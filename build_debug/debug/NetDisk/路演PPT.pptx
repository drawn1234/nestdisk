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7" r:id="rId2"/>
    <p:sldId id="261" r:id="rId3"/>
    <p:sldId id="262" r:id="rId4"/>
    <p:sldId id="349" r:id="rId5"/>
    <p:sldId id="358" r:id="rId6"/>
    <p:sldId id="306" r:id="rId7"/>
    <p:sldId id="318" r:id="rId8"/>
    <p:sldId id="360" r:id="rId9"/>
    <p:sldId id="361" r:id="rId10"/>
    <p:sldId id="259" r:id="rId11"/>
    <p:sldId id="260" r:id="rId12"/>
    <p:sldId id="359" r:id="rId13"/>
    <p:sldId id="323" r:id="rId14"/>
    <p:sldId id="291" r:id="rId15"/>
    <p:sldId id="353" r:id="rId16"/>
    <p:sldId id="326" r:id="rId17"/>
    <p:sldId id="363" r:id="rId18"/>
    <p:sldId id="362" r:id="rId19"/>
    <p:sldId id="366" r:id="rId20"/>
    <p:sldId id="365" r:id="rId21"/>
    <p:sldId id="313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82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19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E977C3-5D49-4AE3-94A3-4A850F718679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3FDB9-DDE0-4054-8528-4EF247FF79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073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D3FDB9-DDE0-4054-8528-4EF247FF799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653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922EB3-8BB3-4D7C-920D-99B3A498A38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9158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1648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859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4369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1790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933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5584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698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9664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35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531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7613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8452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e7d195523061f1c03a90ee8e42cb24248e56383cd534985688F9F494128731F165EE95AB4B0C0A38076AAEA07667B1565C446FC45FF01DFB0E885BCDBDF3A284F3DB14DA61DD97F0BAB2E6C668FB4931B99D40B68E3E163ACF1C225B9B29F2A374C310C04512DBCFC5B5FF7AFA1758446789C4A127CDF0E77B65351290FEF0C46BD79820A2DF4133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"/>
            <a:ext cx="12191103" cy="6858001"/>
          </a:xfrm>
          <a:prstGeom prst="rect">
            <a:avLst/>
          </a:prstGeom>
        </p:spPr>
      </p:pic>
      <p:pic>
        <p:nvPicPr>
          <p:cNvPr id="3" name="图片 2" descr="e7d195523061f1c03a90ee8e42cb24248e56383cd534985688F9F494128731F165EE95AB4B0C0A38076AAEA07667B1565C446FC45FF01DFB0E885BCDBDF3A284F3DB14DA61DD97F0BAB2E6C668FB4931B99D40B68E3E163ACF1C225B9B29F2A374C310C04512DBCFC5B5FF7AFA1758446789C4A127CDF0E77B65351290FEF0C46BD79820A2DF4133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" y="293298"/>
            <a:ext cx="12191103" cy="6564701"/>
          </a:xfrm>
          <a:prstGeom prst="rect">
            <a:avLst/>
          </a:prstGeom>
        </p:spPr>
      </p:pic>
      <p:pic>
        <p:nvPicPr>
          <p:cNvPr id="8" name="图片 7" descr="e7d195523061f1c03a90ee8e42cb24248e56383cd534985688F9F494128731F165EE95AB4B0C0A38076AAEA07667B1565C446FC45FF01DFB0E885BCDBDF3A284F3DB14DA61DD97F0BAB2E6C668FB4931B99D40B68E3E163ACF1C225B9B29F2A374C310C04512DBCFC5B5FF7AFA1758446789C4A127CDF0E77B65351290FEF0C46BD79820A2DF4133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066"/>
          <a:stretch>
            <a:fillRect/>
          </a:stretch>
        </p:blipFill>
        <p:spPr>
          <a:xfrm>
            <a:off x="6095999" y="1"/>
            <a:ext cx="8075407" cy="7945742"/>
          </a:xfrm>
          <a:prstGeom prst="rect">
            <a:avLst/>
          </a:prstGeom>
        </p:spPr>
      </p:pic>
      <p:pic>
        <p:nvPicPr>
          <p:cNvPr id="9" name="图片 8" descr="e7d195523061f1c03a90ee8e42cb24248e56383cd534985688F9F494128731F165EE95AB4B0C0A38076AAEA07667B1565C446FC45FF01DFB0E885BCDBDF3A284F3DB14DA61DD97F0BAB2E6C668FB4931B99D40B68E3E163ACF1C225B9B29F2A374C310C04512DBCFC5B5FF7AFA1758446789C4A127CDF0E77B65351290FEF0C46BD79820A2DF4133"/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9666"/>
          <a:stretch>
            <a:fillRect/>
          </a:stretch>
        </p:blipFill>
        <p:spPr>
          <a:xfrm>
            <a:off x="-313235" y="4054306"/>
            <a:ext cx="1483743" cy="897147"/>
          </a:xfrm>
          <a:prstGeom prst="rect">
            <a:avLst/>
          </a:prstGeom>
        </p:spPr>
      </p:pic>
      <p:sp>
        <p:nvSpPr>
          <p:cNvPr id="11" name="TextBox 30" descr="e7d195523061f1c03a90ee8e42cb24248e56383cd534985688F9F494128731F165EE95AB4B0C0A38076AAEA07667B1565C446FC45FF01DFB0E885BCDBDF3A284F3DB14DA61DD97F0BAB2E6C668FB4931B99D40B68E3E163ACF1C225B9B29F2A374C310C04512DBCFC5B5FF7AFA1758446789C4A127CDF0E77B65351290FEF0C46BD79820A2DF4133"/>
          <p:cNvSpPr txBox="1"/>
          <p:nvPr/>
        </p:nvSpPr>
        <p:spPr>
          <a:xfrm>
            <a:off x="10274944" y="578961"/>
            <a:ext cx="186277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3200" b="1" spc="300" dirty="0">
                <a:solidFill>
                  <a:schemeClr val="bg1"/>
                </a:solidFill>
                <a:latin typeface="Arial"/>
                <a:ea typeface="微软雅黑"/>
                <a:cs typeface="+mn-ea"/>
                <a:sym typeface="Arial"/>
              </a:rPr>
              <a:t>穿梭在银河系的</a:t>
            </a:r>
            <a:endParaRPr lang="en-US" altLang="zh-CN" sz="3200" b="1" spc="300" dirty="0">
              <a:solidFill>
                <a:schemeClr val="bg1"/>
              </a:solidFill>
              <a:latin typeface="Arial"/>
              <a:ea typeface="微软雅黑"/>
              <a:cs typeface="+mn-ea"/>
              <a:sym typeface="Arial"/>
            </a:endParaRPr>
          </a:p>
          <a:p>
            <a:pPr algn="dist"/>
            <a:r>
              <a:rPr lang="zh-CN" altLang="en-US" sz="3200" b="1" spc="300" dirty="0">
                <a:solidFill>
                  <a:schemeClr val="bg1"/>
                </a:solidFill>
                <a:latin typeface="Arial"/>
                <a:ea typeface="微软雅黑"/>
                <a:cs typeface="+mn-ea"/>
                <a:sym typeface="Arial"/>
              </a:rPr>
              <a:t>火箭队</a:t>
            </a:r>
            <a:endParaRPr lang="id-ID" sz="3200" b="1" spc="300" dirty="0">
              <a:solidFill>
                <a:schemeClr val="bg1"/>
              </a:solidFill>
              <a:latin typeface="Arial"/>
              <a:ea typeface="微软雅黑"/>
              <a:cs typeface="+mn-ea"/>
              <a:sym typeface="Arial"/>
            </a:endParaRPr>
          </a:p>
        </p:txBody>
      </p:sp>
      <p:sp>
        <p:nvSpPr>
          <p:cNvPr id="16" name="Freeform 62" descr="e7d195523061f1c03a90ee8e42cb24248e56383cd534985688F9F494128731F165EE95AB4B0C0A38076AAEA07667B1565C446FC45FF01DFB0E885BCDBDF3A284F3DB14DA61DD97F0BAB2E6C668FB4931B99D40B68E3E163A32636258E622DCA61F43F29646847B337F50C35A893C70635C3DDF21F745ACDFA1E795D725ED0D02859279497801B8B8"/>
          <p:cNvSpPr>
            <a:spLocks noEditPoints="1"/>
          </p:cNvSpPr>
          <p:nvPr/>
        </p:nvSpPr>
        <p:spPr bwMode="auto">
          <a:xfrm>
            <a:off x="661218" y="6500980"/>
            <a:ext cx="137450" cy="135137"/>
          </a:xfrm>
          <a:custGeom>
            <a:avLst/>
            <a:gdLst>
              <a:gd name="T0" fmla="*/ 92739 w 55"/>
              <a:gd name="T1" fmla="*/ 185737 h 54"/>
              <a:gd name="T2" fmla="*/ 0 w 55"/>
              <a:gd name="T3" fmla="*/ 92869 h 54"/>
              <a:gd name="T4" fmla="*/ 92739 w 55"/>
              <a:gd name="T5" fmla="*/ 0 h 54"/>
              <a:gd name="T6" fmla="*/ 188913 w 55"/>
              <a:gd name="T7" fmla="*/ 92869 h 54"/>
              <a:gd name="T8" fmla="*/ 92739 w 55"/>
              <a:gd name="T9" fmla="*/ 185737 h 54"/>
              <a:gd name="T10" fmla="*/ 13739 w 55"/>
              <a:gd name="T11" fmla="*/ 92869 h 54"/>
              <a:gd name="T12" fmla="*/ 92739 w 55"/>
              <a:gd name="T13" fmla="*/ 171979 h 54"/>
              <a:gd name="T14" fmla="*/ 171739 w 55"/>
              <a:gd name="T15" fmla="*/ 92869 h 54"/>
              <a:gd name="T16" fmla="*/ 92739 w 55"/>
              <a:gd name="T17" fmla="*/ 13758 h 54"/>
              <a:gd name="T18" fmla="*/ 13739 w 55"/>
              <a:gd name="T19" fmla="*/ 92869 h 54"/>
              <a:gd name="T20" fmla="*/ 140826 w 55"/>
              <a:gd name="T21" fmla="*/ 127264 h 54"/>
              <a:gd name="T22" fmla="*/ 96174 w 55"/>
              <a:gd name="T23" fmla="*/ 151341 h 54"/>
              <a:gd name="T24" fmla="*/ 37783 w 55"/>
              <a:gd name="T25" fmla="*/ 92869 h 54"/>
              <a:gd name="T26" fmla="*/ 96174 w 55"/>
              <a:gd name="T27" fmla="*/ 34396 h 54"/>
              <a:gd name="T28" fmla="*/ 137391 w 55"/>
              <a:gd name="T29" fmla="*/ 58473 h 54"/>
              <a:gd name="T30" fmla="*/ 137391 w 55"/>
              <a:gd name="T31" fmla="*/ 72231 h 54"/>
              <a:gd name="T32" fmla="*/ 137391 w 55"/>
              <a:gd name="T33" fmla="*/ 72231 h 54"/>
              <a:gd name="T34" fmla="*/ 123652 w 55"/>
              <a:gd name="T35" fmla="*/ 72231 h 54"/>
              <a:gd name="T36" fmla="*/ 120217 w 55"/>
              <a:gd name="T37" fmla="*/ 72231 h 54"/>
              <a:gd name="T38" fmla="*/ 120217 w 55"/>
              <a:gd name="T39" fmla="*/ 61912 h 54"/>
              <a:gd name="T40" fmla="*/ 96174 w 55"/>
              <a:gd name="T41" fmla="*/ 51594 h 54"/>
              <a:gd name="T42" fmla="*/ 54957 w 55"/>
              <a:gd name="T43" fmla="*/ 92869 h 54"/>
              <a:gd name="T44" fmla="*/ 96174 w 55"/>
              <a:gd name="T45" fmla="*/ 134143 h 54"/>
              <a:gd name="T46" fmla="*/ 120217 w 55"/>
              <a:gd name="T47" fmla="*/ 123825 h 54"/>
              <a:gd name="T48" fmla="*/ 120217 w 55"/>
              <a:gd name="T49" fmla="*/ 113506 h 54"/>
              <a:gd name="T50" fmla="*/ 123652 w 55"/>
              <a:gd name="T51" fmla="*/ 113506 h 54"/>
              <a:gd name="T52" fmla="*/ 137391 w 55"/>
              <a:gd name="T53" fmla="*/ 113506 h 54"/>
              <a:gd name="T54" fmla="*/ 140826 w 55"/>
              <a:gd name="T55" fmla="*/ 113506 h 54"/>
              <a:gd name="T56" fmla="*/ 140826 w 55"/>
              <a:gd name="T57" fmla="*/ 127264 h 54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55" h="54">
                <a:moveTo>
                  <a:pt x="27" y="54"/>
                </a:moveTo>
                <a:cubicBezTo>
                  <a:pt x="12" y="54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4"/>
                  <a:pt x="27" y="54"/>
                </a:cubicBezTo>
                <a:close/>
                <a:moveTo>
                  <a:pt x="4" y="27"/>
                </a:moveTo>
                <a:cubicBezTo>
                  <a:pt x="4" y="40"/>
                  <a:pt x="15" y="50"/>
                  <a:pt x="27" y="50"/>
                </a:cubicBezTo>
                <a:cubicBezTo>
                  <a:pt x="40" y="50"/>
                  <a:pt x="50" y="40"/>
                  <a:pt x="50" y="27"/>
                </a:cubicBezTo>
                <a:cubicBezTo>
                  <a:pt x="50" y="14"/>
                  <a:pt x="40" y="4"/>
                  <a:pt x="27" y="4"/>
                </a:cubicBezTo>
                <a:cubicBezTo>
                  <a:pt x="15" y="4"/>
                  <a:pt x="4" y="14"/>
                  <a:pt x="4" y="27"/>
                </a:cubicBezTo>
                <a:close/>
                <a:moveTo>
                  <a:pt x="41" y="37"/>
                </a:moveTo>
                <a:cubicBezTo>
                  <a:pt x="41" y="42"/>
                  <a:pt x="33" y="44"/>
                  <a:pt x="28" y="44"/>
                </a:cubicBezTo>
                <a:cubicBezTo>
                  <a:pt x="18" y="44"/>
                  <a:pt x="11" y="37"/>
                  <a:pt x="11" y="27"/>
                </a:cubicBezTo>
                <a:cubicBezTo>
                  <a:pt x="11" y="17"/>
                  <a:pt x="18" y="10"/>
                  <a:pt x="28" y="10"/>
                </a:cubicBezTo>
                <a:cubicBezTo>
                  <a:pt x="31" y="10"/>
                  <a:pt x="40" y="11"/>
                  <a:pt x="40" y="17"/>
                </a:cubicBezTo>
                <a:cubicBezTo>
                  <a:pt x="40" y="21"/>
                  <a:pt x="40" y="21"/>
                  <a:pt x="40" y="21"/>
                </a:cubicBezTo>
                <a:cubicBezTo>
                  <a:pt x="40" y="21"/>
                  <a:pt x="40" y="21"/>
                  <a:pt x="40" y="21"/>
                </a:cubicBezTo>
                <a:cubicBezTo>
                  <a:pt x="36" y="21"/>
                  <a:pt x="36" y="21"/>
                  <a:pt x="36" y="21"/>
                </a:cubicBezTo>
                <a:cubicBezTo>
                  <a:pt x="35" y="21"/>
                  <a:pt x="35" y="21"/>
                  <a:pt x="35" y="21"/>
                </a:cubicBezTo>
                <a:cubicBezTo>
                  <a:pt x="35" y="18"/>
                  <a:pt x="35" y="18"/>
                  <a:pt x="35" y="18"/>
                </a:cubicBezTo>
                <a:cubicBezTo>
                  <a:pt x="35" y="16"/>
                  <a:pt x="31" y="15"/>
                  <a:pt x="28" y="15"/>
                </a:cubicBezTo>
                <a:cubicBezTo>
                  <a:pt x="21" y="15"/>
                  <a:pt x="16" y="20"/>
                  <a:pt x="16" y="27"/>
                </a:cubicBezTo>
                <a:cubicBezTo>
                  <a:pt x="16" y="34"/>
                  <a:pt x="21" y="39"/>
                  <a:pt x="28" y="39"/>
                </a:cubicBezTo>
                <a:cubicBezTo>
                  <a:pt x="31" y="39"/>
                  <a:pt x="35" y="38"/>
                  <a:pt x="35" y="36"/>
                </a:cubicBezTo>
                <a:cubicBezTo>
                  <a:pt x="35" y="33"/>
                  <a:pt x="35" y="33"/>
                  <a:pt x="35" y="33"/>
                </a:cubicBezTo>
                <a:cubicBezTo>
                  <a:pt x="35" y="33"/>
                  <a:pt x="36" y="33"/>
                  <a:pt x="36" y="33"/>
                </a:cubicBezTo>
                <a:cubicBezTo>
                  <a:pt x="40" y="33"/>
                  <a:pt x="40" y="33"/>
                  <a:pt x="40" y="33"/>
                </a:cubicBezTo>
                <a:cubicBezTo>
                  <a:pt x="41" y="33"/>
                  <a:pt x="41" y="33"/>
                  <a:pt x="41" y="33"/>
                </a:cubicBezTo>
                <a:lnTo>
                  <a:pt x="41" y="3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pPr algn="l"/>
            <a:endParaRPr lang="en-US" sz="1000" dirty="0">
              <a:solidFill>
                <a:schemeClr val="bg1"/>
              </a:solidFill>
              <a:latin typeface="Arial"/>
              <a:ea typeface="微软雅黑"/>
              <a:sym typeface="Arial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5C2098D-116D-31AB-DF2F-39EFEEC5DC6A}"/>
              </a:ext>
            </a:extLst>
          </p:cNvPr>
          <p:cNvSpPr txBox="1"/>
          <p:nvPr/>
        </p:nvSpPr>
        <p:spPr>
          <a:xfrm>
            <a:off x="-2216063" y="1813681"/>
            <a:ext cx="10528125" cy="2689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6000" b="1" i="0" dirty="0">
                <a:solidFill>
                  <a:schemeClr val="bg1"/>
                </a:solidFill>
                <a:latin typeface="微软雅黑"/>
              </a:rPr>
              <a:t>宠爱有家</a:t>
            </a:r>
            <a:endParaRPr lang="en-US" altLang="zh-CN" sz="6000" b="1" i="0" dirty="0">
              <a:solidFill>
                <a:schemeClr val="bg1"/>
              </a:solidFill>
              <a:latin typeface="微软雅黑"/>
            </a:endParaRPr>
          </a:p>
          <a:p>
            <a:pPr algn="ctr">
              <a:lnSpc>
                <a:spcPct val="150000"/>
              </a:lnSpc>
            </a:pPr>
            <a:r>
              <a:rPr lang="zh-CN" altLang="en-US" sz="6000" b="1" dirty="0">
                <a:solidFill>
                  <a:schemeClr val="bg1"/>
                </a:solidFill>
                <a:latin typeface="微软雅黑"/>
              </a:rPr>
              <a:t>项目</a:t>
            </a:r>
            <a:r>
              <a:rPr lang="zh-CN" altLang="en-US" sz="6000" b="1" i="0" dirty="0">
                <a:solidFill>
                  <a:schemeClr val="bg1"/>
                </a:solidFill>
                <a:latin typeface="微软雅黑"/>
              </a:rPr>
              <a:t>路演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C588F26-1CFB-40E2-96B3-8F047D3BF6CF}"/>
              </a:ext>
            </a:extLst>
          </p:cNvPr>
          <p:cNvSpPr/>
          <p:nvPr/>
        </p:nvSpPr>
        <p:spPr>
          <a:xfrm>
            <a:off x="-7945211" y="0"/>
            <a:ext cx="12211601" cy="68580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82EF669-C6C0-4501-BB74-B2334633C168}"/>
              </a:ext>
            </a:extLst>
          </p:cNvPr>
          <p:cNvGrpSpPr/>
          <p:nvPr/>
        </p:nvGrpSpPr>
        <p:grpSpPr>
          <a:xfrm>
            <a:off x="136485" y="431088"/>
            <a:ext cx="3022484" cy="1350274"/>
            <a:chOff x="1283804" y="1236710"/>
            <a:chExt cx="3022484" cy="1350274"/>
          </a:xfrm>
        </p:grpSpPr>
        <p:sp>
          <p:nvSpPr>
            <p:cNvPr id="4" name="平行四边形 3">
              <a:extLst>
                <a:ext uri="{FF2B5EF4-FFF2-40B4-BE49-F238E27FC236}">
                  <a16:creationId xmlns:a16="http://schemas.microsoft.com/office/drawing/2014/main" id="{4315C31A-B49E-4E2A-8ED7-7B1309176C6E}"/>
                </a:ext>
              </a:extLst>
            </p:cNvPr>
            <p:cNvSpPr/>
            <p:nvPr/>
          </p:nvSpPr>
          <p:spPr>
            <a:xfrm>
              <a:off x="1283804" y="1236710"/>
              <a:ext cx="3022484" cy="1350274"/>
            </a:xfrm>
            <a:prstGeom prst="parallelogram">
              <a:avLst>
                <a:gd name="adj" fmla="val 3020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5AFEF92C-A8B8-425A-8984-6CD39896DBBD}"/>
                </a:ext>
              </a:extLst>
            </p:cNvPr>
            <p:cNvGrpSpPr/>
            <p:nvPr/>
          </p:nvGrpSpPr>
          <p:grpSpPr>
            <a:xfrm>
              <a:off x="1573792" y="1256225"/>
              <a:ext cx="2410259" cy="1330759"/>
              <a:chOff x="4874746" y="232424"/>
              <a:chExt cx="2410259" cy="1330759"/>
            </a:xfrm>
          </p:grpSpPr>
          <p:sp>
            <p:nvSpPr>
              <p:cNvPr id="7" name="文本框 6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>
                <a:extLst>
                  <a:ext uri="{FF2B5EF4-FFF2-40B4-BE49-F238E27FC236}">
                    <a16:creationId xmlns:a16="http://schemas.microsoft.com/office/drawing/2014/main" id="{CCA2D74D-60CD-4B4B-899F-3CB6F1FDCE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93843" y="1163073"/>
                <a:ext cx="1772064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5pPr>
                <a:lvl6pPr marL="25146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6pPr>
                <a:lvl7pPr marL="29718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7pPr>
                <a:lvl8pPr marL="34290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8pPr>
                <a:lvl9pPr marL="38862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ctr" defTabSz="68578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2865895" algn="l"/>
                  </a:tabLst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24282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  <a:sym typeface="Calibri" panose="020F0502020204030204" pitchFamily="34" charset="0"/>
                  </a:rPr>
                  <a:t>CONTENTS</a:t>
                </a:r>
              </a:p>
            </p:txBody>
          </p:sp>
          <p:sp>
            <p:nvSpPr>
              <p:cNvPr id="8" name="文本框 7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>
                <a:extLst>
                  <a:ext uri="{FF2B5EF4-FFF2-40B4-BE49-F238E27FC236}">
                    <a16:creationId xmlns:a16="http://schemas.microsoft.com/office/drawing/2014/main" id="{28ABCAB4-C892-46A6-941B-6D634EB439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74746" y="232424"/>
                <a:ext cx="2410259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5pPr>
                <a:lvl6pPr marL="25146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6pPr>
                <a:lvl7pPr marL="29718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7pPr>
                <a:lvl8pPr marL="34290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8pPr>
                <a:lvl9pPr marL="38862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ctr" defTabSz="68578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2865895" algn="l"/>
                  </a:tabLst>
                  <a:defRPr/>
                </a:pPr>
                <a:r>
                  <a:rPr kumimoji="0" lang="zh-CN" altLang="en-US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24282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  <a:sym typeface="Calibri" panose="020F0502020204030204" pitchFamily="34" charset="0"/>
                  </a:rPr>
                  <a:t>目 录</a:t>
                </a:r>
                <a:endParaRPr kumimoji="0" lang="en-US" altLang="zh-CN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  <a:sym typeface="Calibri" panose="020F0502020204030204" pitchFamily="34" charset="0"/>
                </a:endParaRPr>
              </a:p>
            </p:txBody>
          </p: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9016EEE6-E325-4DBA-BDD6-4D6694C4CC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71592" y="1091557"/>
                <a:ext cx="1224136" cy="0"/>
              </a:xfrm>
              <a:prstGeom prst="line">
                <a:avLst/>
              </a:prstGeom>
              <a:ln w="28575">
                <a:solidFill>
                  <a:srgbClr val="02428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New shape"/>
          <p:cNvSpPr/>
          <p:nvPr/>
        </p:nvSpPr>
        <p:spPr>
          <a:xfrm>
            <a:off x="4941462" y="506814"/>
            <a:ext cx="2295967" cy="109344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sz="2800" b="1" dirty="0">
                <a:solidFill>
                  <a:schemeClr val="bg1"/>
                </a:solidFill>
                <a:latin typeface="微软雅黑"/>
              </a:rPr>
              <a:t>01</a:t>
            </a:r>
          </a:p>
          <a:p>
            <a:pPr>
              <a:lnSpc>
                <a:spcPct val="150000"/>
              </a:lnSpc>
            </a:pPr>
            <a:r>
              <a:rPr sz="2800" b="0" i="0" dirty="0" err="1">
                <a:solidFill>
                  <a:schemeClr val="bg1"/>
                </a:solidFill>
                <a:latin typeface="微软雅黑"/>
              </a:rPr>
              <a:t>项目概述</a:t>
            </a:r>
            <a:r>
              <a:rPr lang="en-US" sz="2800" b="0" i="0" dirty="0">
                <a:solidFill>
                  <a:schemeClr val="bg1"/>
                </a:solidFill>
                <a:latin typeface="微软雅黑"/>
              </a:rPr>
              <a:t> </a:t>
            </a:r>
            <a:endParaRPr sz="2800" b="0" i="0" dirty="0">
              <a:solidFill>
                <a:schemeClr val="bg1"/>
              </a:solidFill>
              <a:latin typeface="微软雅黑"/>
            </a:endParaRPr>
          </a:p>
        </p:txBody>
      </p:sp>
      <p:sp>
        <p:nvSpPr>
          <p:cNvPr id="5" name="New shape"/>
          <p:cNvSpPr/>
          <p:nvPr/>
        </p:nvSpPr>
        <p:spPr>
          <a:xfrm>
            <a:off x="4880052" y="2152338"/>
            <a:ext cx="2413113" cy="94641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sz="2400" b="1" dirty="0">
                <a:solidFill>
                  <a:schemeClr val="bg1"/>
                </a:solidFill>
                <a:latin typeface="微软雅黑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/>
              </a:rPr>
              <a:t>产品服务与说明</a:t>
            </a:r>
            <a:endParaRPr sz="2400" b="1" dirty="0">
              <a:solidFill>
                <a:schemeClr val="bg1"/>
              </a:solidFill>
              <a:latin typeface="微软雅黑"/>
            </a:endParaRPr>
          </a:p>
        </p:txBody>
      </p:sp>
      <p:sp>
        <p:nvSpPr>
          <p:cNvPr id="20" name="New shape"/>
          <p:cNvSpPr/>
          <p:nvPr/>
        </p:nvSpPr>
        <p:spPr>
          <a:xfrm>
            <a:off x="4916014" y="3760564"/>
            <a:ext cx="2227718" cy="94641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sz="2400" b="1" dirty="0">
                <a:solidFill>
                  <a:schemeClr val="bg1"/>
                </a:solidFill>
                <a:latin typeface="微软雅黑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/>
              </a:rPr>
              <a:t>市场分析</a:t>
            </a:r>
            <a:endParaRPr sz="2400" b="1" dirty="0">
              <a:solidFill>
                <a:schemeClr val="bg1"/>
              </a:solidFill>
              <a:latin typeface="微软雅黑"/>
            </a:endParaRPr>
          </a:p>
        </p:txBody>
      </p:sp>
      <p:sp>
        <p:nvSpPr>
          <p:cNvPr id="21" name="New shape"/>
          <p:cNvSpPr/>
          <p:nvPr/>
        </p:nvSpPr>
        <p:spPr>
          <a:xfrm>
            <a:off x="4941462" y="5319777"/>
            <a:ext cx="2202270" cy="94641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sz="2400" b="1" dirty="0">
                <a:solidFill>
                  <a:schemeClr val="bg1"/>
                </a:solidFill>
                <a:latin typeface="微软雅黑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zh-CN" altLang="en-US" sz="2400" b="0" i="0" dirty="0">
                <a:solidFill>
                  <a:schemeClr val="bg1"/>
                </a:solidFill>
                <a:latin typeface="微软雅黑"/>
              </a:rPr>
              <a:t>商业模式</a:t>
            </a:r>
            <a:endParaRPr sz="2400" b="0" i="0" dirty="0">
              <a:solidFill>
                <a:schemeClr val="bg1"/>
              </a:solidFill>
              <a:latin typeface="微软雅黑"/>
            </a:endParaRPr>
          </a:p>
        </p:txBody>
      </p:sp>
      <p:sp>
        <p:nvSpPr>
          <p:cNvPr id="22" name="New shape"/>
          <p:cNvSpPr/>
          <p:nvPr/>
        </p:nvSpPr>
        <p:spPr>
          <a:xfrm>
            <a:off x="8249690" y="593125"/>
            <a:ext cx="2668025" cy="94641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sz="2400" b="1" dirty="0">
                <a:solidFill>
                  <a:schemeClr val="bg1"/>
                </a:solidFill>
                <a:latin typeface="微软雅黑"/>
              </a:rPr>
              <a:t>0</a:t>
            </a:r>
            <a:r>
              <a:rPr lang="en-US" altLang="zh-CN" sz="2400" b="1" dirty="0">
                <a:solidFill>
                  <a:schemeClr val="bg1"/>
                </a:solidFill>
                <a:latin typeface="微软雅黑"/>
              </a:rPr>
              <a:t>5</a:t>
            </a:r>
            <a:endParaRPr sz="2400" b="1" dirty="0">
              <a:solidFill>
                <a:schemeClr val="bg1"/>
              </a:solidFill>
              <a:latin typeface="微软雅黑"/>
            </a:endParaRPr>
          </a:p>
          <a:p>
            <a:pPr>
              <a:lnSpc>
                <a:spcPct val="150000"/>
              </a:lnSpc>
            </a:pPr>
            <a:r>
              <a:rPr lang="zh-CN" altLang="en-US" sz="2400" b="0" i="0" dirty="0">
                <a:solidFill>
                  <a:schemeClr val="bg1"/>
                </a:solidFill>
                <a:latin typeface="微软雅黑"/>
              </a:rPr>
              <a:t>创队团队与资源</a:t>
            </a:r>
            <a:endParaRPr sz="2400" b="0" i="0" dirty="0">
              <a:solidFill>
                <a:schemeClr val="bg1"/>
              </a:solidFill>
              <a:latin typeface="微软雅黑"/>
            </a:endParaRPr>
          </a:p>
        </p:txBody>
      </p:sp>
      <p:sp>
        <p:nvSpPr>
          <p:cNvPr id="23" name="New shape"/>
          <p:cNvSpPr/>
          <p:nvPr/>
        </p:nvSpPr>
        <p:spPr>
          <a:xfrm>
            <a:off x="8249691" y="2261779"/>
            <a:ext cx="2668024" cy="94641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sz="2400" b="1" dirty="0">
                <a:solidFill>
                  <a:schemeClr val="bg1"/>
                </a:solidFill>
                <a:latin typeface="微软雅黑"/>
              </a:rPr>
              <a:t>0</a:t>
            </a:r>
            <a:r>
              <a:rPr lang="en-US" altLang="zh-CN" sz="2400" b="1" dirty="0">
                <a:solidFill>
                  <a:schemeClr val="bg1"/>
                </a:solidFill>
                <a:latin typeface="微软雅黑"/>
              </a:rPr>
              <a:t>6</a:t>
            </a:r>
            <a:endParaRPr sz="2400" b="1" dirty="0">
              <a:solidFill>
                <a:schemeClr val="bg1"/>
              </a:solidFill>
              <a:latin typeface="微软雅黑"/>
            </a:endParaRPr>
          </a:p>
          <a:p>
            <a:pPr>
              <a:lnSpc>
                <a:spcPct val="150000"/>
              </a:lnSpc>
            </a:pPr>
            <a:r>
              <a:rPr lang="zh-CN" altLang="en-US" sz="2400" b="0" i="0" dirty="0">
                <a:solidFill>
                  <a:schemeClr val="bg1"/>
                </a:solidFill>
                <a:latin typeface="微软雅黑"/>
              </a:rPr>
              <a:t>竞品与风险分析</a:t>
            </a:r>
            <a:endParaRPr sz="2400" b="0" i="0" dirty="0">
              <a:solidFill>
                <a:schemeClr val="bg1"/>
              </a:solidFill>
              <a:latin typeface="微软雅黑"/>
            </a:endParaRPr>
          </a:p>
        </p:txBody>
      </p:sp>
      <p:sp>
        <p:nvSpPr>
          <p:cNvPr id="25" name="New shape"/>
          <p:cNvSpPr/>
          <p:nvPr/>
        </p:nvSpPr>
        <p:spPr>
          <a:xfrm>
            <a:off x="8249691" y="3760564"/>
            <a:ext cx="2668024" cy="94641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sz="2400" b="1" dirty="0">
                <a:solidFill>
                  <a:schemeClr val="bg1"/>
                </a:solidFill>
                <a:latin typeface="微软雅黑"/>
              </a:rPr>
              <a:t>0</a:t>
            </a:r>
            <a:r>
              <a:rPr lang="en-US" altLang="zh-CN" sz="2400" b="1" dirty="0">
                <a:solidFill>
                  <a:schemeClr val="bg1"/>
                </a:solidFill>
                <a:latin typeface="微软雅黑"/>
              </a:rPr>
              <a:t>7</a:t>
            </a:r>
            <a:endParaRPr sz="2400" b="1" dirty="0">
              <a:solidFill>
                <a:schemeClr val="bg1"/>
              </a:solidFill>
              <a:latin typeface="微软雅黑"/>
            </a:endParaRPr>
          </a:p>
          <a:p>
            <a:pPr>
              <a:lnSpc>
                <a:spcPct val="150000"/>
              </a:lnSpc>
            </a:pPr>
            <a:r>
              <a:rPr lang="zh-CN" altLang="en-US" sz="2400" b="0" i="0" dirty="0">
                <a:solidFill>
                  <a:schemeClr val="bg1"/>
                </a:solidFill>
                <a:latin typeface="微软雅黑"/>
              </a:rPr>
              <a:t>战略规划</a:t>
            </a:r>
            <a:endParaRPr sz="2400" b="0" i="0" dirty="0">
              <a:solidFill>
                <a:schemeClr val="bg1"/>
              </a:solidFill>
              <a:latin typeface="微软雅黑"/>
            </a:endParaRPr>
          </a:p>
        </p:txBody>
      </p:sp>
      <p:sp>
        <p:nvSpPr>
          <p:cNvPr id="42" name="New shape">
            <a:extLst>
              <a:ext uri="{FF2B5EF4-FFF2-40B4-BE49-F238E27FC236}">
                <a16:creationId xmlns:a16="http://schemas.microsoft.com/office/drawing/2014/main" id="{1F3F46E8-3FDA-3FE4-58E2-F52996415A69}"/>
              </a:ext>
            </a:extLst>
          </p:cNvPr>
          <p:cNvSpPr/>
          <p:nvPr/>
        </p:nvSpPr>
        <p:spPr>
          <a:xfrm>
            <a:off x="8249691" y="5319777"/>
            <a:ext cx="2668024" cy="83099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sz="2400" b="1" dirty="0">
                <a:solidFill>
                  <a:schemeClr val="bg1"/>
                </a:solidFill>
                <a:latin typeface="微软雅黑"/>
              </a:rPr>
              <a:t>0</a:t>
            </a:r>
            <a:r>
              <a:rPr lang="en-US" altLang="zh-CN" sz="2400" b="1" dirty="0">
                <a:solidFill>
                  <a:schemeClr val="bg1"/>
                </a:solidFill>
                <a:latin typeface="微软雅黑"/>
              </a:rPr>
              <a:t>8</a:t>
            </a:r>
          </a:p>
          <a:p>
            <a:r>
              <a:rPr lang="zh-CN" altLang="en-US" sz="2400" b="1" dirty="0">
                <a:solidFill>
                  <a:schemeClr val="bg1"/>
                </a:solidFill>
                <a:latin typeface="微软雅黑"/>
              </a:rPr>
              <a:t>进展与需求</a:t>
            </a:r>
            <a:endParaRPr sz="2400" b="1" dirty="0">
              <a:solidFill>
                <a:schemeClr val="bg1"/>
              </a:solidFill>
              <a:latin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957472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3">
            <a:extLst>
              <a:ext uri="{FF2B5EF4-FFF2-40B4-BE49-F238E27FC236}">
                <a16:creationId xmlns:a16="http://schemas.microsoft.com/office/drawing/2014/main" id="{B003DBEA-DCA9-4367-9C7D-276E86308A89}"/>
              </a:ext>
            </a:extLst>
          </p:cNvPr>
          <p:cNvSpPr txBox="1">
            <a:spLocks/>
          </p:cNvSpPr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>
            <a:extLst>
              <a:ext uri="{FF2B5EF4-FFF2-40B4-BE49-F238E27FC236}">
                <a16:creationId xmlns:a16="http://schemas.microsoft.com/office/drawing/2014/main" id="{0596444F-0E55-45FB-ADDC-7CB49F17B057}"/>
              </a:ext>
            </a:extLst>
          </p:cNvPr>
          <p:cNvSpPr txBox="1">
            <a:spLocks/>
          </p:cNvSpPr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6600" dirty="0">
                <a:solidFill>
                  <a:srgbClr val="5049D5"/>
                </a:solidFill>
                <a:latin typeface="微软雅黑"/>
              </a:rPr>
              <a:t>宠爱有家项目概述</a:t>
            </a:r>
            <a:endParaRPr lang="zh-CN" altLang="en-US" sz="6600" b="1" i="0" dirty="0">
              <a:solidFill>
                <a:srgbClr val="5049D5"/>
              </a:solidFill>
              <a:latin typeface="微软雅黑"/>
            </a:endParaRPr>
          </a:p>
          <a:p>
            <a:pPr marL="0" marR="0" lvl="0" indent="0" algn="l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803D4B4-1DA9-48D5-9DA1-22E2C28CE9E8}"/>
              </a:ext>
            </a:extLst>
          </p:cNvPr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>
              <a:extLst>
                <a:ext uri="{FF2B5EF4-FFF2-40B4-BE49-F238E27FC236}">
                  <a16:creationId xmlns:a16="http://schemas.microsoft.com/office/drawing/2014/main" id="{06200922-3CF6-4931-BC88-44D4B19E806C}"/>
                </a:ext>
              </a:extLst>
            </p:cNvPr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>
              <a:extLst>
                <a:ext uri="{FF2B5EF4-FFF2-40B4-BE49-F238E27FC236}">
                  <a16:creationId xmlns:a16="http://schemas.microsoft.com/office/drawing/2014/main" id="{2D15F4C6-AC88-41C4-9097-B10E7060E768}"/>
                </a:ext>
              </a:extLst>
            </p:cNvPr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B02D87A-F649-476F-8BC8-FB6C4075F1AC}"/>
              </a:ext>
            </a:extLst>
          </p:cNvPr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>
              <a:extLst>
                <a:ext uri="{FF2B5EF4-FFF2-40B4-BE49-F238E27FC236}">
                  <a16:creationId xmlns:a16="http://schemas.microsoft.com/office/drawing/2014/main" id="{7FE902F3-E032-4929-AF5F-9660584777C6}"/>
                </a:ext>
              </a:extLst>
            </p:cNvPr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81F4CA57-0574-43E4-8476-CA9509AA4163}"/>
                </a:ext>
              </a:extLst>
            </p:cNvPr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2FBF787-E511-4917-B553-A562828617B2}"/>
              </a:ext>
            </a:extLst>
          </p:cNvPr>
          <p:cNvCxnSpPr/>
          <p:nvPr/>
        </p:nvCxnSpPr>
        <p:spPr>
          <a:xfrm>
            <a:off x="1959341" y="4264160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5273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1CD06CE8-775B-412D-8CA5-38149B4250F2}"/>
              </a:ext>
            </a:extLst>
          </p:cNvPr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>
              <a:extLst>
                <a:ext uri="{FF2B5EF4-FFF2-40B4-BE49-F238E27FC236}">
                  <a16:creationId xmlns:a16="http://schemas.microsoft.com/office/drawing/2014/main" id="{6B433195-F3A3-4CAE-9D18-8C115F4AFBBC}"/>
                </a:ext>
              </a:extLst>
            </p:cNvPr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>
              <a:extLst>
                <a:ext uri="{FF2B5EF4-FFF2-40B4-BE49-F238E27FC236}">
                  <a16:creationId xmlns:a16="http://schemas.microsoft.com/office/drawing/2014/main" id="{4EC9FACA-42BA-40CA-8CD7-36526B08C4C9}"/>
                </a:ext>
              </a:extLst>
            </p:cNvPr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2F384D8-7D4B-43C0-A2C8-97BCCCA3B07A}"/>
              </a:ext>
            </a:extLst>
          </p:cNvPr>
          <p:cNvCxnSpPr>
            <a:cxnSpLocks/>
          </p:cNvCxnSpPr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>
            <a:extLst>
              <a:ext uri="{FF2B5EF4-FFF2-40B4-BE49-F238E27FC236}">
                <a16:creationId xmlns:a16="http://schemas.microsoft.com/office/drawing/2014/main" id="{00EE87AC-3A4F-4A38-9D57-EA0EE0E3FE63}"/>
              </a:ext>
            </a:extLst>
          </p:cNvPr>
          <p:cNvSpPr txBox="1">
            <a:spLocks/>
          </p:cNvSpPr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3200" b="1" i="0" dirty="0">
                <a:solidFill>
                  <a:srgbClr val="000000"/>
                </a:solidFill>
                <a:latin typeface="微软雅黑"/>
              </a:rPr>
              <a:t>宠爱有家项目概述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619E720-DD77-4829-82E9-4EE1F562ACDD}"/>
              </a:ext>
            </a:extLst>
          </p:cNvPr>
          <p:cNvSpPr/>
          <p:nvPr/>
        </p:nvSpPr>
        <p:spPr>
          <a:xfrm>
            <a:off x="-63541" y="909307"/>
            <a:ext cx="12192001" cy="5931707"/>
          </a:xfrm>
          <a:prstGeom prst="rect">
            <a:avLst/>
          </a:prstGeom>
          <a:solidFill>
            <a:srgbClr val="024282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" name="New shape">
            <a:extLst>
              <a:ext uri="{FF2B5EF4-FFF2-40B4-BE49-F238E27FC236}">
                <a16:creationId xmlns:a16="http://schemas.microsoft.com/office/drawing/2014/main" id="{E631A622-4AC0-FD02-1509-7FE73ADA8A1D}"/>
              </a:ext>
            </a:extLst>
          </p:cNvPr>
          <p:cNvSpPr/>
          <p:nvPr/>
        </p:nvSpPr>
        <p:spPr>
          <a:xfrm>
            <a:off x="424878" y="1097807"/>
            <a:ext cx="2643760" cy="16466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l"/>
            <a:r>
              <a:rPr lang="zh-CN" altLang="en-US" sz="2100" b="1" dirty="0">
                <a:solidFill>
                  <a:srgbClr val="2F66E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宠爱有家小程序概述</a:t>
            </a:r>
            <a:endParaRPr lang="en-US" altLang="zh-CN" sz="2100" b="1" dirty="0">
              <a:solidFill>
                <a:srgbClr val="2F66E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宠爱有家小程序是一款个性化，功能性于一体的可社交的宠物小程序。</a:t>
            </a:r>
          </a:p>
        </p:txBody>
      </p:sp>
      <p:sp>
        <p:nvSpPr>
          <p:cNvPr id="8" name="New shape">
            <a:extLst>
              <a:ext uri="{FF2B5EF4-FFF2-40B4-BE49-F238E27FC236}">
                <a16:creationId xmlns:a16="http://schemas.microsoft.com/office/drawing/2014/main" id="{299ADF80-6E89-0B43-E2AE-5CE39BE9F35E}"/>
              </a:ext>
            </a:extLst>
          </p:cNvPr>
          <p:cNvSpPr/>
          <p:nvPr/>
        </p:nvSpPr>
        <p:spPr>
          <a:xfrm>
            <a:off x="469166" y="3529866"/>
            <a:ext cx="2908206" cy="31311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2100" b="1" dirty="0">
                <a:solidFill>
                  <a:srgbClr val="2F66E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宠爱有家小程序能介绍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宠爱有家小程序拥有多种功能，包括宠物寄养服务预定、宠物健康管理、宠物活动推荐，宠物咨询获取等，全方位满足宠物主人的需求。</a:t>
            </a:r>
          </a:p>
        </p:txBody>
      </p:sp>
      <p:sp>
        <p:nvSpPr>
          <p:cNvPr id="13" name="New shape">
            <a:extLst>
              <a:ext uri="{FF2B5EF4-FFF2-40B4-BE49-F238E27FC236}">
                <a16:creationId xmlns:a16="http://schemas.microsoft.com/office/drawing/2014/main" id="{8CFA1AA8-82AA-4D5D-AA3E-D48F3BCA6D5C}"/>
              </a:ext>
            </a:extLst>
          </p:cNvPr>
          <p:cNvSpPr/>
          <p:nvPr/>
        </p:nvSpPr>
        <p:spPr>
          <a:xfrm>
            <a:off x="3814574" y="1550310"/>
            <a:ext cx="360000" cy="370800"/>
          </a:xfrm>
          <a:prstGeom prst="roundRect">
            <a:avLst>
              <a:gd name="adj" fmla="val 8819"/>
            </a:avLst>
          </a:prstGeom>
          <a:solidFill>
            <a:srgbClr val="5049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New shape">
            <a:extLst>
              <a:ext uri="{FF2B5EF4-FFF2-40B4-BE49-F238E27FC236}">
                <a16:creationId xmlns:a16="http://schemas.microsoft.com/office/drawing/2014/main" id="{D2C574ED-D658-2DE4-FCF9-8C8B1C9092B0}"/>
              </a:ext>
            </a:extLst>
          </p:cNvPr>
          <p:cNvSpPr/>
          <p:nvPr/>
        </p:nvSpPr>
        <p:spPr>
          <a:xfrm flipH="1">
            <a:off x="3944001" y="2144930"/>
            <a:ext cx="51128" cy="1691996"/>
          </a:xfrm>
          <a:prstGeom prst="rect">
            <a:avLst/>
          </a:prstGeom>
          <a:solidFill>
            <a:srgbClr val="2F66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New shape">
            <a:extLst>
              <a:ext uri="{FF2B5EF4-FFF2-40B4-BE49-F238E27FC236}">
                <a16:creationId xmlns:a16="http://schemas.microsoft.com/office/drawing/2014/main" id="{6F342856-C6BA-E9A2-66B6-B356429B340D}"/>
              </a:ext>
            </a:extLst>
          </p:cNvPr>
          <p:cNvSpPr/>
          <p:nvPr/>
        </p:nvSpPr>
        <p:spPr>
          <a:xfrm>
            <a:off x="3492804" y="4177614"/>
            <a:ext cx="309600" cy="39600"/>
          </a:xfrm>
          <a:prstGeom prst="rect">
            <a:avLst/>
          </a:prstGeom>
          <a:solidFill>
            <a:srgbClr val="2F66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New shape">
            <a:extLst>
              <a:ext uri="{FF2B5EF4-FFF2-40B4-BE49-F238E27FC236}">
                <a16:creationId xmlns:a16="http://schemas.microsoft.com/office/drawing/2014/main" id="{CE374792-BCCE-7B1F-6D29-C2AA8AAD42B8}"/>
              </a:ext>
            </a:extLst>
          </p:cNvPr>
          <p:cNvSpPr/>
          <p:nvPr/>
        </p:nvSpPr>
        <p:spPr>
          <a:xfrm>
            <a:off x="3848605" y="3989157"/>
            <a:ext cx="360000" cy="370800"/>
          </a:xfrm>
          <a:prstGeom prst="roundRect">
            <a:avLst>
              <a:gd name="adj" fmla="val 8819"/>
            </a:avLst>
          </a:prstGeom>
          <a:solidFill>
            <a:srgbClr val="5049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2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A9FF523-7CA6-3F5F-B10A-CFC9DC6F7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401" y="118120"/>
            <a:ext cx="3627434" cy="6590347"/>
          </a:xfrm>
          <a:prstGeom prst="rect">
            <a:avLst/>
          </a:prstGeom>
        </p:spPr>
      </p:pic>
      <p:sp>
        <p:nvSpPr>
          <p:cNvPr id="12" name="New shape">
            <a:extLst>
              <a:ext uri="{FF2B5EF4-FFF2-40B4-BE49-F238E27FC236}">
                <a16:creationId xmlns:a16="http://schemas.microsoft.com/office/drawing/2014/main" id="{80ABBE2A-4147-2363-C732-C7A6B061BF4E}"/>
              </a:ext>
            </a:extLst>
          </p:cNvPr>
          <p:cNvSpPr/>
          <p:nvPr/>
        </p:nvSpPr>
        <p:spPr>
          <a:xfrm>
            <a:off x="3351519" y="1726209"/>
            <a:ext cx="309600" cy="39600"/>
          </a:xfrm>
          <a:prstGeom prst="rect">
            <a:avLst/>
          </a:prstGeom>
          <a:solidFill>
            <a:srgbClr val="2F66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5BCF580-8924-EA26-7D71-0D2ABED9D5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4574" y="1256371"/>
            <a:ext cx="4344869" cy="402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329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13" grpId="0" animBg="1"/>
      <p:bldP spid="14" grpId="0" animBg="1"/>
      <p:bldP spid="17" grpId="0" animBg="1"/>
      <p:bldP spid="24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3">
            <a:extLst>
              <a:ext uri="{FF2B5EF4-FFF2-40B4-BE49-F238E27FC236}">
                <a16:creationId xmlns:a16="http://schemas.microsoft.com/office/drawing/2014/main" id="{B003DBEA-DCA9-4367-9C7D-276E86308A89}"/>
              </a:ext>
            </a:extLst>
          </p:cNvPr>
          <p:cNvSpPr txBox="1">
            <a:spLocks/>
          </p:cNvSpPr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rPr>
              <a:t>02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>
            <a:extLst>
              <a:ext uri="{FF2B5EF4-FFF2-40B4-BE49-F238E27FC236}">
                <a16:creationId xmlns:a16="http://schemas.microsoft.com/office/drawing/2014/main" id="{0596444F-0E55-45FB-ADDC-7CB49F17B057}"/>
              </a:ext>
            </a:extLst>
          </p:cNvPr>
          <p:cNvSpPr txBox="1">
            <a:spLocks/>
          </p:cNvSpPr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6600" dirty="0">
                <a:solidFill>
                  <a:srgbClr val="5049D5"/>
                </a:solidFill>
                <a:latin typeface="微软雅黑"/>
              </a:rPr>
              <a:t>产品与服务说明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803D4B4-1DA9-48D5-9DA1-22E2C28CE9E8}"/>
              </a:ext>
            </a:extLst>
          </p:cNvPr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>
              <a:extLst>
                <a:ext uri="{FF2B5EF4-FFF2-40B4-BE49-F238E27FC236}">
                  <a16:creationId xmlns:a16="http://schemas.microsoft.com/office/drawing/2014/main" id="{06200922-3CF6-4931-BC88-44D4B19E806C}"/>
                </a:ext>
              </a:extLst>
            </p:cNvPr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>
              <a:extLst>
                <a:ext uri="{FF2B5EF4-FFF2-40B4-BE49-F238E27FC236}">
                  <a16:creationId xmlns:a16="http://schemas.microsoft.com/office/drawing/2014/main" id="{2D15F4C6-AC88-41C4-9097-B10E7060E768}"/>
                </a:ext>
              </a:extLst>
            </p:cNvPr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B02D87A-F649-476F-8BC8-FB6C4075F1AC}"/>
              </a:ext>
            </a:extLst>
          </p:cNvPr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>
              <a:extLst>
                <a:ext uri="{FF2B5EF4-FFF2-40B4-BE49-F238E27FC236}">
                  <a16:creationId xmlns:a16="http://schemas.microsoft.com/office/drawing/2014/main" id="{7FE902F3-E032-4929-AF5F-9660584777C6}"/>
                </a:ext>
              </a:extLst>
            </p:cNvPr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81F4CA57-0574-43E4-8476-CA9509AA4163}"/>
                </a:ext>
              </a:extLst>
            </p:cNvPr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2FBF787-E511-4917-B553-A562828617B2}"/>
              </a:ext>
            </a:extLst>
          </p:cNvPr>
          <p:cNvCxnSpPr/>
          <p:nvPr/>
        </p:nvCxnSpPr>
        <p:spPr>
          <a:xfrm>
            <a:off x="1959341" y="4264160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5672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1CD06CE8-775B-412D-8CA5-38149B4250F2}"/>
              </a:ext>
            </a:extLst>
          </p:cNvPr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>
              <a:extLst>
                <a:ext uri="{FF2B5EF4-FFF2-40B4-BE49-F238E27FC236}">
                  <a16:creationId xmlns:a16="http://schemas.microsoft.com/office/drawing/2014/main" id="{6B433195-F3A3-4CAE-9D18-8C115F4AFBBC}"/>
                </a:ext>
              </a:extLst>
            </p:cNvPr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>
              <a:extLst>
                <a:ext uri="{FF2B5EF4-FFF2-40B4-BE49-F238E27FC236}">
                  <a16:creationId xmlns:a16="http://schemas.microsoft.com/office/drawing/2014/main" id="{4EC9FACA-42BA-40CA-8CD7-36526B08C4C9}"/>
                </a:ext>
              </a:extLst>
            </p:cNvPr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2F384D8-7D4B-43C0-A2C8-97BCCCA3B07A}"/>
              </a:ext>
            </a:extLst>
          </p:cNvPr>
          <p:cNvCxnSpPr>
            <a:cxnSpLocks/>
          </p:cNvCxnSpPr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>
            <a:extLst>
              <a:ext uri="{FF2B5EF4-FFF2-40B4-BE49-F238E27FC236}">
                <a16:creationId xmlns:a16="http://schemas.microsoft.com/office/drawing/2014/main" id="{00EE87AC-3A4F-4A38-9D57-EA0EE0E3FE63}"/>
              </a:ext>
            </a:extLst>
          </p:cNvPr>
          <p:cNvSpPr txBox="1">
            <a:spLocks/>
          </p:cNvSpPr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3200" b="1" i="0" dirty="0">
                <a:solidFill>
                  <a:srgbClr val="000000"/>
                </a:solidFill>
                <a:latin typeface="微软雅黑"/>
              </a:rPr>
              <a:t>2.</a:t>
            </a:r>
            <a:r>
              <a:rPr lang="zh-CN" altLang="en-US" sz="3200" b="1" i="0" dirty="0">
                <a:solidFill>
                  <a:srgbClr val="000000"/>
                </a:solidFill>
                <a:latin typeface="微软雅黑"/>
              </a:rPr>
              <a:t>产品与服务说明</a:t>
            </a:r>
          </a:p>
        </p:txBody>
      </p:sp>
      <p:sp>
        <p:nvSpPr>
          <p:cNvPr id="2" name="New shape">
            <a:extLst>
              <a:ext uri="{FF2B5EF4-FFF2-40B4-BE49-F238E27FC236}">
                <a16:creationId xmlns:a16="http://schemas.microsoft.com/office/drawing/2014/main" id="{89933878-F00B-E900-B92D-1BB4B439A545}"/>
              </a:ext>
            </a:extLst>
          </p:cNvPr>
          <p:cNvSpPr/>
          <p:nvPr/>
        </p:nvSpPr>
        <p:spPr>
          <a:xfrm>
            <a:off x="392209" y="1847360"/>
            <a:ext cx="2922491" cy="13767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l"/>
            <a:r>
              <a:rPr sz="2100" b="1" i="0" dirty="0" err="1">
                <a:solidFill>
                  <a:srgbClr val="2F66EE"/>
                </a:solidFill>
                <a:latin typeface="微软雅黑"/>
              </a:rPr>
              <a:t>一键紧急救援系统功能</a:t>
            </a:r>
            <a:br>
              <a:rPr sz="1800" dirty="0">
                <a:latin typeface="微软雅黑"/>
              </a:rPr>
            </a:br>
            <a:endParaRPr lang="zh-CN" altLang="en-US" sz="1800" dirty="0">
              <a:latin typeface="微软雅黑"/>
            </a:endParaRPr>
          </a:p>
          <a:p>
            <a:pPr algn="l">
              <a:lnSpc>
                <a:spcPct val="150000"/>
              </a:lnSpc>
            </a:pPr>
            <a:r>
              <a:rPr lang="zh-CN" altLang="en-US" sz="1575" b="0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快速救援，一键触发。距离最近专业宠物救援团队一键联系。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8012E2B-D134-9487-8622-C8AB1A014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15" y="4204075"/>
            <a:ext cx="3431165" cy="1844251"/>
          </a:xfrm>
          <a:prstGeom prst="rect">
            <a:avLst/>
          </a:prstGeom>
        </p:spPr>
      </p:pic>
      <p:sp>
        <p:nvSpPr>
          <p:cNvPr id="13" name="椭圆 12">
            <a:extLst>
              <a:ext uri="{FF2B5EF4-FFF2-40B4-BE49-F238E27FC236}">
                <a16:creationId xmlns:a16="http://schemas.microsoft.com/office/drawing/2014/main" id="{25E8FCEF-DBE3-BDB4-CEC3-3517B43D22E0}"/>
              </a:ext>
            </a:extLst>
          </p:cNvPr>
          <p:cNvSpPr/>
          <p:nvPr/>
        </p:nvSpPr>
        <p:spPr>
          <a:xfrm>
            <a:off x="1398370" y="4261832"/>
            <a:ext cx="782686" cy="52461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New shape">
            <a:extLst>
              <a:ext uri="{FF2B5EF4-FFF2-40B4-BE49-F238E27FC236}">
                <a16:creationId xmlns:a16="http://schemas.microsoft.com/office/drawing/2014/main" id="{03CE9D77-FE95-D946-B4F8-0ADC7698F28F}"/>
              </a:ext>
            </a:extLst>
          </p:cNvPr>
          <p:cNvSpPr/>
          <p:nvPr/>
        </p:nvSpPr>
        <p:spPr>
          <a:xfrm>
            <a:off x="8586198" y="1847359"/>
            <a:ext cx="2508833" cy="938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l"/>
            <a:r>
              <a:rPr lang="zh-CN" altLang="en-US" sz="2100" b="1" i="0" dirty="0">
                <a:solidFill>
                  <a:srgbClr val="2F66E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智能宠物匹配功能</a:t>
            </a:r>
            <a:br>
              <a:rPr sz="1800" dirty="0">
                <a:latin typeface="微软雅黑"/>
              </a:rPr>
            </a:br>
            <a:endParaRPr lang="zh-CN" altLang="en-US" sz="1800" dirty="0">
              <a:latin typeface="微软雅黑"/>
            </a:endParaRPr>
          </a:p>
          <a:p>
            <a:pPr algn="l"/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让宠爱有“家”。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0F4C543-0306-BD3F-5BF1-68138BF6CA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380" y="3724229"/>
            <a:ext cx="2542432" cy="3011304"/>
          </a:xfrm>
          <a:prstGeom prst="rect">
            <a:avLst/>
          </a:prstGeom>
        </p:spPr>
      </p:pic>
      <p:sp>
        <p:nvSpPr>
          <p:cNvPr id="11" name="New shape">
            <a:extLst>
              <a:ext uri="{FF2B5EF4-FFF2-40B4-BE49-F238E27FC236}">
                <a16:creationId xmlns:a16="http://schemas.microsoft.com/office/drawing/2014/main" id="{0EF3CCE5-489F-BAB8-0E67-DD1B316D7DDA}"/>
              </a:ext>
            </a:extLst>
          </p:cNvPr>
          <p:cNvSpPr/>
          <p:nvPr/>
        </p:nvSpPr>
        <p:spPr>
          <a:xfrm>
            <a:off x="4606575" y="1847359"/>
            <a:ext cx="2508833" cy="13767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l"/>
            <a:r>
              <a:rPr lang="zh-CN" altLang="en-US" sz="2100" b="1" i="0" dirty="0">
                <a:solidFill>
                  <a:srgbClr val="2F66E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在线预约服务功能</a:t>
            </a:r>
            <a:br>
              <a:rPr sz="1800" dirty="0">
                <a:latin typeface="微软雅黑"/>
              </a:rPr>
            </a:br>
            <a:endParaRPr sz="1800" dirty="0">
              <a:latin typeface="微软雅黑"/>
            </a:endParaRPr>
          </a:p>
          <a:p>
            <a:pPr algn="l">
              <a:lnSpc>
                <a:spcPct val="150000"/>
              </a:lnSpc>
            </a:pPr>
            <a:r>
              <a:rPr lang="zh-CN" altLang="en-US" sz="1575" b="0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随时随地，专业预约</a:t>
            </a:r>
            <a:endParaRPr lang="en-US" altLang="zh-CN" sz="1575" b="0" i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75" b="0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，不再忙碌奔波。</a:t>
            </a:r>
            <a:endParaRPr lang="en-US" altLang="zh-CN" sz="1575" b="0" i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4CE7AE1D-E7D8-83D2-8FB0-36348B06420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42261" r="1210" b="19758"/>
          <a:stretch/>
        </p:blipFill>
        <p:spPr>
          <a:xfrm>
            <a:off x="7546621" y="3724227"/>
            <a:ext cx="2079154" cy="301129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FF4576FE-3464-5920-BF87-B0AA10BCAC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982" y="3951979"/>
            <a:ext cx="2151403" cy="278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526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383AEED5-B298-512D-6A19-FE8A18BCD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239" y="2976918"/>
            <a:ext cx="1482265" cy="128779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83A449C-FF0C-10C5-3BF8-E4C6BE883A5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36" t="61" r="13475" b="-1"/>
          <a:stretch/>
        </p:blipFill>
        <p:spPr>
          <a:xfrm>
            <a:off x="2324322" y="5642101"/>
            <a:ext cx="1845550" cy="1215899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2F384D8-7D4B-43C0-A2C8-97BCCCA3B07A}"/>
              </a:ext>
            </a:extLst>
          </p:cNvPr>
          <p:cNvCxnSpPr>
            <a:cxnSpLocks/>
          </p:cNvCxnSpPr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431020E3-441A-2E27-03B7-6231FEB27B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7632" y="858403"/>
            <a:ext cx="3638737" cy="278779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FB4166B-D3E0-DC79-DF09-E84ECFAE71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9381" y="3523952"/>
            <a:ext cx="3340272" cy="3111660"/>
          </a:xfrm>
          <a:prstGeom prst="rect">
            <a:avLst/>
          </a:prstGeom>
        </p:spPr>
      </p:pic>
      <p:sp>
        <p:nvSpPr>
          <p:cNvPr id="16" name="椭圆 15">
            <a:extLst>
              <a:ext uri="{FF2B5EF4-FFF2-40B4-BE49-F238E27FC236}">
                <a16:creationId xmlns:a16="http://schemas.microsoft.com/office/drawing/2014/main" id="{48943389-1E89-A6AA-3AF3-348FBBB4094C}"/>
              </a:ext>
            </a:extLst>
          </p:cNvPr>
          <p:cNvSpPr/>
          <p:nvPr/>
        </p:nvSpPr>
        <p:spPr>
          <a:xfrm>
            <a:off x="4343910" y="858403"/>
            <a:ext cx="4977036" cy="250386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7FB1E706-7DCA-6E0E-941B-A326FCF14BC5}"/>
              </a:ext>
            </a:extLst>
          </p:cNvPr>
          <p:cNvSpPr/>
          <p:nvPr/>
        </p:nvSpPr>
        <p:spPr>
          <a:xfrm>
            <a:off x="10512532" y="3572680"/>
            <a:ext cx="997121" cy="75384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297DB7A9-07DF-9E50-7C91-F00D1185B0BA}"/>
              </a:ext>
            </a:extLst>
          </p:cNvPr>
          <p:cNvSpPr/>
          <p:nvPr/>
        </p:nvSpPr>
        <p:spPr>
          <a:xfrm>
            <a:off x="7868086" y="4068745"/>
            <a:ext cx="2427143" cy="13421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CD06CE8-775B-412D-8CA5-38149B4250F2}"/>
              </a:ext>
            </a:extLst>
          </p:cNvPr>
          <p:cNvGrpSpPr/>
          <p:nvPr/>
        </p:nvGrpSpPr>
        <p:grpSpPr>
          <a:xfrm>
            <a:off x="437607" y="148178"/>
            <a:ext cx="629872" cy="612768"/>
            <a:chOff x="3070727" y="196457"/>
            <a:chExt cx="692047" cy="673255"/>
          </a:xfrm>
        </p:grpSpPr>
        <p:sp>
          <p:nvSpPr>
            <p:cNvPr id="3" name="平行四边形 2">
              <a:extLst>
                <a:ext uri="{FF2B5EF4-FFF2-40B4-BE49-F238E27FC236}">
                  <a16:creationId xmlns:a16="http://schemas.microsoft.com/office/drawing/2014/main" id="{6B433195-F3A3-4CAE-9D18-8C115F4AFBBC}"/>
                </a:ext>
              </a:extLst>
            </p:cNvPr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平行四边形 18">
              <a:extLst>
                <a:ext uri="{FF2B5EF4-FFF2-40B4-BE49-F238E27FC236}">
                  <a16:creationId xmlns:a16="http://schemas.microsoft.com/office/drawing/2014/main" id="{4EC9FACA-42BA-40CA-8CD7-36526B08C4C9}"/>
                </a:ext>
              </a:extLst>
            </p:cNvPr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0" name="文本占位符 5">
            <a:extLst>
              <a:ext uri="{FF2B5EF4-FFF2-40B4-BE49-F238E27FC236}">
                <a16:creationId xmlns:a16="http://schemas.microsoft.com/office/drawing/2014/main" id="{00EE87AC-3A4F-4A38-9D57-EA0EE0E3FE63}"/>
              </a:ext>
            </a:extLst>
          </p:cNvPr>
          <p:cNvSpPr txBox="1">
            <a:spLocks/>
          </p:cNvSpPr>
          <p:nvPr/>
        </p:nvSpPr>
        <p:spPr>
          <a:xfrm>
            <a:off x="1037582" y="17569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3200" b="1" i="0" dirty="0">
                <a:solidFill>
                  <a:srgbClr val="000000"/>
                </a:solidFill>
                <a:latin typeface="微软雅黑"/>
              </a:rPr>
              <a:t>2.</a:t>
            </a:r>
            <a:r>
              <a:rPr lang="zh-CN" altLang="en-US" sz="3200" b="1" i="0" dirty="0">
                <a:solidFill>
                  <a:srgbClr val="000000"/>
                </a:solidFill>
                <a:latin typeface="微软雅黑"/>
              </a:rPr>
              <a:t>用户体验优化策略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E4FA1FE-ADF6-D575-AB30-B08C42AF3E12}"/>
              </a:ext>
            </a:extLst>
          </p:cNvPr>
          <p:cNvSpPr txBox="1"/>
          <p:nvPr/>
        </p:nvSpPr>
        <p:spPr>
          <a:xfrm>
            <a:off x="2883259" y="4738941"/>
            <a:ext cx="2881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i="0" dirty="0">
                <a:solidFill>
                  <a:srgbClr val="2F66E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个性化的虚拟宠物定制</a:t>
            </a:r>
            <a:endParaRPr lang="en-US" altLang="zh-CN" sz="1800" b="1" i="0" dirty="0">
              <a:solidFill>
                <a:srgbClr val="2F66E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3B9DF7-2866-3B6C-7B98-F8C9DCD9CCA3}"/>
              </a:ext>
            </a:extLst>
          </p:cNvPr>
          <p:cNvSpPr txBox="1"/>
          <p:nvPr/>
        </p:nvSpPr>
        <p:spPr>
          <a:xfrm>
            <a:off x="642030" y="3874924"/>
            <a:ext cx="25088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i="0" dirty="0">
                <a:solidFill>
                  <a:srgbClr val="2F66E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创新的宠物语言翻译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9629A84-4C03-8AC6-41D3-087FD723D238}"/>
              </a:ext>
            </a:extLst>
          </p:cNvPr>
          <p:cNvSpPr txBox="1"/>
          <p:nvPr/>
        </p:nvSpPr>
        <p:spPr>
          <a:xfrm>
            <a:off x="179450" y="5720400"/>
            <a:ext cx="22063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800" b="1" i="0" dirty="0">
                <a:solidFill>
                  <a:srgbClr val="2F66E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智能宠物项圈设计</a:t>
            </a:r>
          </a:p>
        </p:txBody>
      </p:sp>
      <p:sp>
        <p:nvSpPr>
          <p:cNvPr id="21" name="New shape">
            <a:extLst>
              <a:ext uri="{FF2B5EF4-FFF2-40B4-BE49-F238E27FC236}">
                <a16:creationId xmlns:a16="http://schemas.microsoft.com/office/drawing/2014/main" id="{B77CD8FD-AB89-EBAA-1388-2FC47697BF61}"/>
              </a:ext>
            </a:extLst>
          </p:cNvPr>
          <p:cNvSpPr/>
          <p:nvPr/>
        </p:nvSpPr>
        <p:spPr>
          <a:xfrm>
            <a:off x="561833" y="1137600"/>
            <a:ext cx="3782077" cy="21607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2100" b="1" i="0" dirty="0">
                <a:solidFill>
                  <a:srgbClr val="2F66E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社区互动与信息分享</a:t>
            </a:r>
          </a:p>
          <a:p>
            <a:pPr algn="l"/>
            <a:endParaRPr lang="zh-CN" altLang="en-US" sz="1800" dirty="0">
              <a:latin typeface="微软雅黑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b="0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建立宠物爱好者的交流社区，用于用户分享宠物照片，经验等，增加用户粘性，通过用户与用户之间提供更多的宠物养护知识和技巧。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8F7095E-1FA8-FB04-571B-2F0FEFDACE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4165" y="4477287"/>
            <a:ext cx="1587456" cy="142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700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文本占位符 3"/>
          <p:cNvSpPr txBox="1"/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rPr>
              <a:t>03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587" name="文本占位符 4"/>
          <p:cNvSpPr txBox="1"/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6600" b="1" dirty="0">
                <a:solidFill>
                  <a:srgbClr val="024282"/>
                </a:solidFill>
                <a:latin typeface="微软雅黑"/>
                <a:ea typeface="微软雅黑"/>
              </a:rPr>
              <a:t>  </a:t>
            </a:r>
            <a:r>
              <a:rPr lang="en-US" altLang="zh-CN" sz="6600" b="1" dirty="0">
                <a:solidFill>
                  <a:srgbClr val="024282"/>
                </a:solidFill>
                <a:latin typeface="微软雅黑"/>
                <a:ea typeface="微软雅黑"/>
              </a:rPr>
              <a:t>      </a:t>
            </a:r>
            <a:r>
              <a:rPr lang="zh-CN" altLang="en-US" sz="6600" b="1" dirty="0">
                <a:solidFill>
                  <a:srgbClr val="024282"/>
                </a:solidFill>
                <a:latin typeface="微软雅黑"/>
                <a:ea typeface="微软雅黑"/>
              </a:rPr>
              <a:t> 市场分析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23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1048588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589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4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1048590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591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145728" name="直接连接符 15"/>
          <p:cNvCxnSpPr>
            <a:cxnSpLocks/>
          </p:cNvCxnSpPr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1048713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714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145735" name="直接连接符 6"/>
          <p:cNvCxnSpPr>
            <a:cxnSpLocks/>
          </p:cNvCxnSpPr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15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 fontScale="89375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3200" b="1" i="0" dirty="0">
                <a:solidFill>
                  <a:srgbClr val="000000"/>
                </a:solidFill>
                <a:latin typeface="微软雅黑"/>
              </a:rPr>
              <a:t>宠物市场概况</a:t>
            </a:r>
          </a:p>
        </p:txBody>
      </p:sp>
      <p:sp>
        <p:nvSpPr>
          <p:cNvPr id="1048716" name="文本框 7"/>
          <p:cNvSpPr txBox="1"/>
          <p:nvPr/>
        </p:nvSpPr>
        <p:spPr>
          <a:xfrm>
            <a:off x="3583260" y="443961"/>
            <a:ext cx="1821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800" b="1" i="0" dirty="0">
                <a:solidFill>
                  <a:srgbClr val="2F66E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宠物消费趋势</a:t>
            </a:r>
            <a:endParaRPr lang="zh-CN" altLang="en-US" sz="1400" dirty="0">
              <a:latin typeface="微软雅黑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6D7B293-339D-0894-6E6F-DE335F203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9" y="1597540"/>
            <a:ext cx="5576054" cy="440713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A7C759B-487B-7378-7B0F-B188821F3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875" y="1495410"/>
            <a:ext cx="6195717" cy="477544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52297DF-7594-EAB5-1E15-7DAE8C48A4E5}"/>
              </a:ext>
            </a:extLst>
          </p:cNvPr>
          <p:cNvSpPr txBox="1"/>
          <p:nvPr/>
        </p:nvSpPr>
        <p:spPr>
          <a:xfrm>
            <a:off x="1876361" y="962285"/>
            <a:ext cx="81513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/>
              <a:t>结合</a:t>
            </a:r>
            <a:r>
              <a:rPr lang="en-US" altLang="zh-CN" sz="3200" dirty="0"/>
              <a:t>《2023-2024</a:t>
            </a:r>
            <a:r>
              <a:rPr lang="zh-CN" altLang="en-US" sz="3200" dirty="0"/>
              <a:t>年中国宠物行业白皮书</a:t>
            </a:r>
            <a:r>
              <a:rPr lang="en-US" altLang="zh-CN" sz="3200" dirty="0"/>
              <a:t>》</a:t>
            </a:r>
            <a:endParaRPr lang="zh-CN" altLang="en-US" sz="3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文本占位符 3"/>
          <p:cNvSpPr txBox="1"/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rPr>
              <a:t>04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609" name="文本占位符 4"/>
          <p:cNvSpPr txBox="1"/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商业模式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9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1048610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611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0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1048612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613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145730" name="直接连接符 15"/>
          <p:cNvCxnSpPr>
            <a:cxnSpLocks/>
          </p:cNvCxnSpPr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1048614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615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145731" name="直接连接符 6"/>
          <p:cNvCxnSpPr>
            <a:cxnSpLocks/>
          </p:cNvCxnSpPr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16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商业模式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617" name="Oval 10"/>
          <p:cNvSpPr>
            <a:spLocks noChangeArrowheads="1"/>
          </p:cNvSpPr>
          <p:nvPr/>
        </p:nvSpPr>
        <p:spPr bwMode="auto">
          <a:xfrm>
            <a:off x="4077339" y="3417638"/>
            <a:ext cx="470045" cy="472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</a:endParaRPr>
          </a:p>
        </p:txBody>
      </p:sp>
      <p:sp>
        <p:nvSpPr>
          <p:cNvPr id="1048618" name="Oval 14"/>
          <p:cNvSpPr>
            <a:spLocks noChangeArrowheads="1"/>
          </p:cNvSpPr>
          <p:nvPr/>
        </p:nvSpPr>
        <p:spPr bwMode="auto">
          <a:xfrm>
            <a:off x="5988782" y="3159334"/>
            <a:ext cx="470045" cy="472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</a:endParaRPr>
          </a:p>
        </p:txBody>
      </p:sp>
      <p:sp>
        <p:nvSpPr>
          <p:cNvPr id="1048619" name="Oval 18"/>
          <p:cNvSpPr>
            <a:spLocks noChangeArrowheads="1"/>
          </p:cNvSpPr>
          <p:nvPr/>
        </p:nvSpPr>
        <p:spPr bwMode="auto">
          <a:xfrm>
            <a:off x="7882976" y="3447825"/>
            <a:ext cx="470045" cy="47004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</a:endParaRPr>
          </a:p>
        </p:txBody>
      </p:sp>
      <p:sp>
        <p:nvSpPr>
          <p:cNvPr id="1048620" name="文本框 1"/>
          <p:cNvSpPr txBox="1"/>
          <p:nvPr/>
        </p:nvSpPr>
        <p:spPr>
          <a:xfrm>
            <a:off x="781203" y="936301"/>
            <a:ext cx="9990314" cy="358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48781" name="文本框 1048780"/>
          <p:cNvSpPr txBox="1"/>
          <p:nvPr/>
        </p:nvSpPr>
        <p:spPr>
          <a:xfrm>
            <a:off x="678721" y="970177"/>
            <a:ext cx="9915601" cy="569386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zh-CN-#Han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-#Han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创新营销:通过社交媒体、短视频、直播等渠道，不断推出创新的营销活动，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或推出线下可用的产品</a:t>
            </a:r>
            <a:r>
              <a:rPr lang="zh-CN-#Han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吸引更多</a:t>
            </a:r>
            <a:r>
              <a:rPr lang="zh-CN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人。</a:t>
            </a:r>
            <a:endParaRPr lang="en-US" altLang="zh-CN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-#Han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
2.</a:t>
            </a:r>
            <a:r>
              <a:rPr lang="zh-CN-#Han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线上线下结合:为宠物主人提供各种社交活动，如宠物比赛、宠物训练等。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一方面</a:t>
            </a:r>
            <a:r>
              <a:rPr lang="zh-CN-#Han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提高了用户体验，还增加了平台的收入</a:t>
            </a:r>
            <a:r>
              <a:rPr lang="zh-CN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-#Han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
3.</a:t>
            </a:r>
            <a:r>
              <a:rPr lang="zh-CN-#Han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精准匹配:通过地理位置、宠物类型、活动类型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，及大数据分析</a:t>
            </a:r>
            <a:r>
              <a:rPr lang="zh-CN-#Han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多个维度，可以精准匹配用户需求</a:t>
            </a:r>
            <a:r>
              <a:rPr lang="zh-CN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-#Han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提高用户满意度。</a:t>
            </a:r>
          </a:p>
          <a:p>
            <a:endParaRPr lang="en-US" altLang="zh-CN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-#Han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在应用内销售宠物用品、食品、玩具等产品。</a:t>
            </a:r>
            <a:endParaRPr lang="en-US" altLang="zh-CN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-#Han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可以是库存销售，也可以是通过联盟营销的方式</a:t>
            </a:r>
            <a:r>
              <a:rPr lang="zh-CN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-#Han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收取会员费或通过增值服务盈利。</a:t>
            </a:r>
            <a:r>
              <a:rPr lang="zh-CN-#Hans" altLang="zh-CN" sz="2800" dirty="0">
                <a:solidFill>
                  <a:srgbClr val="000000"/>
                </a:solidFill>
              </a:rPr>
              <a:t>
</a:t>
            </a:r>
            <a:endParaRPr lang="zh-CN-#Hans" sz="2800" dirty="0">
              <a:solidFill>
                <a:srgbClr val="0000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2927CC0-2764-571C-9AE4-3C8BAB1EE299}"/>
              </a:ext>
            </a:extLst>
          </p:cNvPr>
          <p:cNvSpPr/>
          <p:nvPr/>
        </p:nvSpPr>
        <p:spPr>
          <a:xfrm>
            <a:off x="16239" y="926293"/>
            <a:ext cx="12192001" cy="5931707"/>
          </a:xfrm>
          <a:prstGeom prst="rect">
            <a:avLst/>
          </a:prstGeom>
          <a:solidFill>
            <a:srgbClr val="024282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9B1A15F-0C5C-DF94-D7DE-0CF721E38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7596" y="5371144"/>
            <a:ext cx="2414404" cy="148685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3">
            <a:extLst>
              <a:ext uri="{FF2B5EF4-FFF2-40B4-BE49-F238E27FC236}">
                <a16:creationId xmlns:a16="http://schemas.microsoft.com/office/drawing/2014/main" id="{B003DBEA-DCA9-4367-9C7D-276E86308A89}"/>
              </a:ext>
            </a:extLst>
          </p:cNvPr>
          <p:cNvSpPr txBox="1">
            <a:spLocks/>
          </p:cNvSpPr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rPr>
              <a:t>05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>
            <a:extLst>
              <a:ext uri="{FF2B5EF4-FFF2-40B4-BE49-F238E27FC236}">
                <a16:creationId xmlns:a16="http://schemas.microsoft.com/office/drawing/2014/main" id="{0596444F-0E55-45FB-ADDC-7CB49F17B057}"/>
              </a:ext>
            </a:extLst>
          </p:cNvPr>
          <p:cNvSpPr txBox="1">
            <a:spLocks/>
          </p:cNvSpPr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6600" b="1" dirty="0">
                <a:solidFill>
                  <a:srgbClr val="024282"/>
                </a:solidFill>
                <a:latin typeface="微软雅黑"/>
                <a:ea typeface="微软雅黑"/>
              </a:rPr>
              <a:t>   </a:t>
            </a:r>
            <a:r>
              <a:rPr lang="zh-CN" altLang="en-US" sz="6600" dirty="0">
                <a:latin typeface="微软雅黑"/>
                <a:ea typeface="微软雅黑"/>
              </a:rPr>
              <a:t>创业团队与资源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803D4B4-1DA9-48D5-9DA1-22E2C28CE9E8}"/>
              </a:ext>
            </a:extLst>
          </p:cNvPr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>
              <a:extLst>
                <a:ext uri="{FF2B5EF4-FFF2-40B4-BE49-F238E27FC236}">
                  <a16:creationId xmlns:a16="http://schemas.microsoft.com/office/drawing/2014/main" id="{06200922-3CF6-4931-BC88-44D4B19E806C}"/>
                </a:ext>
              </a:extLst>
            </p:cNvPr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>
              <a:extLst>
                <a:ext uri="{FF2B5EF4-FFF2-40B4-BE49-F238E27FC236}">
                  <a16:creationId xmlns:a16="http://schemas.microsoft.com/office/drawing/2014/main" id="{2D15F4C6-AC88-41C4-9097-B10E7060E768}"/>
                </a:ext>
              </a:extLst>
            </p:cNvPr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B02D87A-F649-476F-8BC8-FB6C4075F1AC}"/>
              </a:ext>
            </a:extLst>
          </p:cNvPr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>
              <a:extLst>
                <a:ext uri="{FF2B5EF4-FFF2-40B4-BE49-F238E27FC236}">
                  <a16:creationId xmlns:a16="http://schemas.microsoft.com/office/drawing/2014/main" id="{7FE902F3-E032-4929-AF5F-9660584777C6}"/>
                </a:ext>
              </a:extLst>
            </p:cNvPr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81F4CA57-0574-43E4-8476-CA9509AA4163}"/>
                </a:ext>
              </a:extLst>
            </p:cNvPr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2FBF787-E511-4917-B553-A562828617B2}"/>
              </a:ext>
            </a:extLst>
          </p:cNvPr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3974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1CD06CE8-775B-412D-8CA5-38149B4250F2}"/>
              </a:ext>
            </a:extLst>
          </p:cNvPr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>
              <a:extLst>
                <a:ext uri="{FF2B5EF4-FFF2-40B4-BE49-F238E27FC236}">
                  <a16:creationId xmlns:a16="http://schemas.microsoft.com/office/drawing/2014/main" id="{6B433195-F3A3-4CAE-9D18-8C115F4AFBBC}"/>
                </a:ext>
              </a:extLst>
            </p:cNvPr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>
              <a:extLst>
                <a:ext uri="{FF2B5EF4-FFF2-40B4-BE49-F238E27FC236}">
                  <a16:creationId xmlns:a16="http://schemas.microsoft.com/office/drawing/2014/main" id="{4EC9FACA-42BA-40CA-8CD7-36526B08C4C9}"/>
                </a:ext>
              </a:extLst>
            </p:cNvPr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2F384D8-7D4B-43C0-A2C8-97BCCCA3B07A}"/>
              </a:ext>
            </a:extLst>
          </p:cNvPr>
          <p:cNvCxnSpPr>
            <a:cxnSpLocks/>
          </p:cNvCxnSpPr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>
            <a:extLst>
              <a:ext uri="{FF2B5EF4-FFF2-40B4-BE49-F238E27FC236}">
                <a16:creationId xmlns:a16="http://schemas.microsoft.com/office/drawing/2014/main" id="{00EE87AC-3A4F-4A38-9D57-EA0EE0E3FE63}"/>
              </a:ext>
            </a:extLst>
          </p:cNvPr>
          <p:cNvSpPr txBox="1">
            <a:spLocks/>
          </p:cNvSpPr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创业团队与资源</a:t>
            </a:r>
          </a:p>
        </p:txBody>
      </p:sp>
      <p:sp>
        <p:nvSpPr>
          <p:cNvPr id="31" name="Oval 10">
            <a:extLst>
              <a:ext uri="{FF2B5EF4-FFF2-40B4-BE49-F238E27FC236}">
                <a16:creationId xmlns:a16="http://schemas.microsoft.com/office/drawing/2014/main" id="{DDCA4DD0-A64F-4DA5-B907-D9935D977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7339" y="3417638"/>
            <a:ext cx="470045" cy="472200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</a:endParaRPr>
          </a:p>
        </p:txBody>
      </p:sp>
      <p:sp>
        <p:nvSpPr>
          <p:cNvPr id="32" name="Oval 14">
            <a:extLst>
              <a:ext uri="{FF2B5EF4-FFF2-40B4-BE49-F238E27FC236}">
                <a16:creationId xmlns:a16="http://schemas.microsoft.com/office/drawing/2014/main" id="{5BC42853-D260-4924-8BDA-886E1AC23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8782" y="3159334"/>
            <a:ext cx="470045" cy="472200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</a:endParaRPr>
          </a:p>
        </p:txBody>
      </p:sp>
      <p:sp>
        <p:nvSpPr>
          <p:cNvPr id="34" name="Oval 18">
            <a:extLst>
              <a:ext uri="{FF2B5EF4-FFF2-40B4-BE49-F238E27FC236}">
                <a16:creationId xmlns:a16="http://schemas.microsoft.com/office/drawing/2014/main" id="{E576ED07-B2AF-4417-B0F0-8CCFDDEE4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2976" y="3447825"/>
            <a:ext cx="470045" cy="47004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90EA279-3519-1C87-82D6-7F0904374E88}"/>
              </a:ext>
            </a:extLst>
          </p:cNvPr>
          <p:cNvSpPr txBox="1"/>
          <p:nvPr/>
        </p:nvSpPr>
        <p:spPr>
          <a:xfrm>
            <a:off x="621873" y="911746"/>
            <a:ext cx="2369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创业团队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B8FF752-54C5-DDC1-1BB1-12C2833FC309}"/>
              </a:ext>
            </a:extLst>
          </p:cNvPr>
          <p:cNvSpPr txBox="1"/>
          <p:nvPr/>
        </p:nvSpPr>
        <p:spPr>
          <a:xfrm>
            <a:off x="39717" y="1388683"/>
            <a:ext cx="10327779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0D0D0D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拥有强大的协作能力和执行力，可以快速高效完成任务</a:t>
            </a:r>
            <a:endParaRPr lang="en-US" altLang="zh-CN" sz="2000" dirty="0">
              <a:solidFill>
                <a:srgbClr val="0D0D0D"/>
              </a:solidFill>
              <a:highlight>
                <a:srgbClr val="FFFF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有灵动的头脑，敏锐的洞察力与创新想象力</a:t>
            </a:r>
            <a:endParaRPr lang="en-US" altLang="zh-CN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2000" dirty="0">
              <a:solidFill>
                <a:srgbClr val="0D0D0D"/>
              </a:solidFill>
              <a:highlight>
                <a:srgbClr val="FFFF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2000" dirty="0">
                <a:solidFill>
                  <a:srgbClr val="0D0D0D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队长：</a:t>
            </a:r>
            <a:endParaRPr lang="en-US" altLang="zh-CN" sz="2000" dirty="0">
              <a:solidFill>
                <a:srgbClr val="0D0D0D"/>
              </a:solidFill>
              <a:highlight>
                <a:srgbClr val="FFFF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2000" dirty="0">
                <a:solidFill>
                  <a:srgbClr val="0D0D0D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肖苹苹 </a:t>
            </a:r>
            <a:r>
              <a:rPr lang="en-US" altLang="zh-CN" sz="2000" dirty="0">
                <a:solidFill>
                  <a:srgbClr val="0D0D0D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000" dirty="0">
                <a:solidFill>
                  <a:srgbClr val="0D0D0D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制定营销工作方案，组织计划，对外宣讲等方面工作</a:t>
            </a:r>
            <a:endParaRPr lang="en-US" altLang="zh-CN" sz="2000" dirty="0">
              <a:solidFill>
                <a:srgbClr val="0D0D0D"/>
              </a:solidFill>
              <a:highlight>
                <a:srgbClr val="FFFF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队员：</a:t>
            </a:r>
            <a:endParaRPr lang="en-US" altLang="zh-CN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2000" dirty="0">
                <a:solidFill>
                  <a:srgbClr val="0D0D0D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刘春泽  </a:t>
            </a:r>
            <a:r>
              <a:rPr lang="en-US" altLang="zh-CN" sz="2000" dirty="0">
                <a:solidFill>
                  <a:srgbClr val="0D0D0D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000" dirty="0">
                <a:solidFill>
                  <a:srgbClr val="0D0D0D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负责财务核算，进行管理，确保正常运转</a:t>
            </a:r>
            <a:endParaRPr lang="en-US" altLang="zh-CN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2000" dirty="0">
                <a:solidFill>
                  <a:srgbClr val="0D0D0D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殷思雨</a:t>
            </a:r>
            <a:r>
              <a:rPr lang="en-US" altLang="zh-CN" sz="2000" dirty="0">
                <a:solidFill>
                  <a:srgbClr val="0D0D0D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000" dirty="0">
                <a:solidFill>
                  <a:srgbClr val="0D0D0D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根据发展战略，进行新产品研发规划设计以及应用</a:t>
            </a:r>
            <a:endParaRPr lang="en-US" altLang="zh-CN" sz="2000" dirty="0">
              <a:solidFill>
                <a:srgbClr val="0D0D0D"/>
              </a:solidFill>
              <a:highlight>
                <a:srgbClr val="FFFF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吕一诺</a:t>
            </a:r>
            <a:r>
              <a:rPr lang="en-US" altLang="zh-CN" sz="2000" dirty="0">
                <a:solidFill>
                  <a:srgbClr val="0D0D0D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000" dirty="0">
                <a:solidFill>
                  <a:srgbClr val="0D0D0D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根据市场反馈进行技术改进</a:t>
            </a:r>
            <a:endParaRPr lang="en-US" altLang="zh-CN" sz="2000" dirty="0">
              <a:solidFill>
                <a:srgbClr val="0D0D0D"/>
              </a:solidFill>
              <a:highlight>
                <a:srgbClr val="FFFF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zh-CN" alt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FFD8F6B-CAB6-7137-B81C-BBC30B68292B}"/>
              </a:ext>
            </a:extLst>
          </p:cNvPr>
          <p:cNvSpPr/>
          <p:nvPr/>
        </p:nvSpPr>
        <p:spPr>
          <a:xfrm>
            <a:off x="-1" y="872154"/>
            <a:ext cx="12192001" cy="5931707"/>
          </a:xfrm>
          <a:prstGeom prst="rect">
            <a:avLst/>
          </a:prstGeom>
          <a:solidFill>
            <a:srgbClr val="024282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57810D-ADBC-95AD-8F77-DEB80011CA40}"/>
              </a:ext>
            </a:extLst>
          </p:cNvPr>
          <p:cNvSpPr txBox="1"/>
          <p:nvPr/>
        </p:nvSpPr>
        <p:spPr>
          <a:xfrm>
            <a:off x="7535118" y="3573896"/>
            <a:ext cx="450017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技术资源：配备先进的开发工具与平台。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团队资源：我们团队成员多元化，具备技术、运营、市场和财务等多方面的技能。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市场资源：拥有详细的市场调研数据，了解用户需求和市场趋势，为产品定位和推广策略提供依据。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EC47B39-D42E-6261-A6F6-A624F809C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1997" y="806732"/>
            <a:ext cx="1745110" cy="167747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62885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3">
            <a:extLst>
              <a:ext uri="{FF2B5EF4-FFF2-40B4-BE49-F238E27FC236}">
                <a16:creationId xmlns:a16="http://schemas.microsoft.com/office/drawing/2014/main" id="{B003DBEA-DCA9-4367-9C7D-276E86308A89}"/>
              </a:ext>
            </a:extLst>
          </p:cNvPr>
          <p:cNvSpPr txBox="1">
            <a:spLocks/>
          </p:cNvSpPr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rPr>
              <a:t>06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>
            <a:extLst>
              <a:ext uri="{FF2B5EF4-FFF2-40B4-BE49-F238E27FC236}">
                <a16:creationId xmlns:a16="http://schemas.microsoft.com/office/drawing/2014/main" id="{0596444F-0E55-45FB-ADDC-7CB49F17B057}"/>
              </a:ext>
            </a:extLst>
          </p:cNvPr>
          <p:cNvSpPr txBox="1">
            <a:spLocks/>
          </p:cNvSpPr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6600" dirty="0"/>
              <a:t>竞品与风险分析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803D4B4-1DA9-48D5-9DA1-22E2C28CE9E8}"/>
              </a:ext>
            </a:extLst>
          </p:cNvPr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>
              <a:extLst>
                <a:ext uri="{FF2B5EF4-FFF2-40B4-BE49-F238E27FC236}">
                  <a16:creationId xmlns:a16="http://schemas.microsoft.com/office/drawing/2014/main" id="{06200922-3CF6-4931-BC88-44D4B19E806C}"/>
                </a:ext>
              </a:extLst>
            </p:cNvPr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>
              <a:extLst>
                <a:ext uri="{FF2B5EF4-FFF2-40B4-BE49-F238E27FC236}">
                  <a16:creationId xmlns:a16="http://schemas.microsoft.com/office/drawing/2014/main" id="{2D15F4C6-AC88-41C4-9097-B10E7060E768}"/>
                </a:ext>
              </a:extLst>
            </p:cNvPr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B02D87A-F649-476F-8BC8-FB6C4075F1AC}"/>
              </a:ext>
            </a:extLst>
          </p:cNvPr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>
              <a:extLst>
                <a:ext uri="{FF2B5EF4-FFF2-40B4-BE49-F238E27FC236}">
                  <a16:creationId xmlns:a16="http://schemas.microsoft.com/office/drawing/2014/main" id="{7FE902F3-E032-4929-AF5F-9660584777C6}"/>
                </a:ext>
              </a:extLst>
            </p:cNvPr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81F4CA57-0574-43E4-8476-CA9509AA4163}"/>
                </a:ext>
              </a:extLst>
            </p:cNvPr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2FBF787-E511-4917-B553-A562828617B2}"/>
              </a:ext>
            </a:extLst>
          </p:cNvPr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9608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1CD06CE8-775B-412D-8CA5-38149B4250F2}"/>
              </a:ext>
            </a:extLst>
          </p:cNvPr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>
              <a:extLst>
                <a:ext uri="{FF2B5EF4-FFF2-40B4-BE49-F238E27FC236}">
                  <a16:creationId xmlns:a16="http://schemas.microsoft.com/office/drawing/2014/main" id="{6B433195-F3A3-4CAE-9D18-8C115F4AFBBC}"/>
                </a:ext>
              </a:extLst>
            </p:cNvPr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>
              <a:extLst>
                <a:ext uri="{FF2B5EF4-FFF2-40B4-BE49-F238E27FC236}">
                  <a16:creationId xmlns:a16="http://schemas.microsoft.com/office/drawing/2014/main" id="{4EC9FACA-42BA-40CA-8CD7-36526B08C4C9}"/>
                </a:ext>
              </a:extLst>
            </p:cNvPr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2F384D8-7D4B-43C0-A2C8-97BCCCA3B07A}"/>
              </a:ext>
            </a:extLst>
          </p:cNvPr>
          <p:cNvCxnSpPr>
            <a:cxnSpLocks/>
          </p:cNvCxnSpPr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>
            <a:extLst>
              <a:ext uri="{FF2B5EF4-FFF2-40B4-BE49-F238E27FC236}">
                <a16:creationId xmlns:a16="http://schemas.microsoft.com/office/drawing/2014/main" id="{00EE87AC-3A4F-4A38-9D57-EA0EE0E3FE63}"/>
              </a:ext>
            </a:extLst>
          </p:cNvPr>
          <p:cNvSpPr txBox="1">
            <a:spLocks/>
          </p:cNvSpPr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3200" b="1" i="0" dirty="0">
                <a:solidFill>
                  <a:srgbClr val="000000"/>
                </a:solidFill>
                <a:latin typeface="微软雅黑"/>
              </a:rPr>
              <a:t>竞品功能对比分析</a:t>
            </a:r>
          </a:p>
        </p:txBody>
      </p:sp>
      <p:sp>
        <p:nvSpPr>
          <p:cNvPr id="9" name="AutoShape 2">
            <a:extLst>
              <a:ext uri="{FF2B5EF4-FFF2-40B4-BE49-F238E27FC236}">
                <a16:creationId xmlns:a16="http://schemas.microsoft.com/office/drawing/2014/main" id="{4C1B4779-0206-4D7A-47BA-950753CF8D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5C44004-8123-26E8-7485-E339C114B4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068" y="942056"/>
            <a:ext cx="6274108" cy="5799311"/>
          </a:xfrm>
          <a:prstGeom prst="rect">
            <a:avLst/>
          </a:prstGeom>
        </p:spPr>
      </p:pic>
      <p:sp>
        <p:nvSpPr>
          <p:cNvPr id="2" name="椭圆 1">
            <a:extLst>
              <a:ext uri="{FF2B5EF4-FFF2-40B4-BE49-F238E27FC236}">
                <a16:creationId xmlns:a16="http://schemas.microsoft.com/office/drawing/2014/main" id="{74F04AC0-1EDA-0580-5D26-19786B3D8AD9}"/>
              </a:ext>
            </a:extLst>
          </p:cNvPr>
          <p:cNvSpPr/>
          <p:nvPr/>
        </p:nvSpPr>
        <p:spPr>
          <a:xfrm>
            <a:off x="3256295" y="5232026"/>
            <a:ext cx="435721" cy="27892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77F9625F-850D-49FB-D98D-FDCB98C3C3B6}"/>
              </a:ext>
            </a:extLst>
          </p:cNvPr>
          <p:cNvSpPr/>
          <p:nvPr/>
        </p:nvSpPr>
        <p:spPr>
          <a:xfrm>
            <a:off x="1963812" y="3366096"/>
            <a:ext cx="521637" cy="9512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AAA15B4B-CEB4-F75E-9948-BD487A322183}"/>
              </a:ext>
            </a:extLst>
          </p:cNvPr>
          <p:cNvSpPr/>
          <p:nvPr/>
        </p:nvSpPr>
        <p:spPr>
          <a:xfrm>
            <a:off x="4523447" y="6210556"/>
            <a:ext cx="460269" cy="2147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New shape">
            <a:extLst>
              <a:ext uri="{FF2B5EF4-FFF2-40B4-BE49-F238E27FC236}">
                <a16:creationId xmlns:a16="http://schemas.microsoft.com/office/drawing/2014/main" id="{588EEC3D-8086-B89E-9DF6-5ADB3BD434FE}"/>
              </a:ext>
            </a:extLst>
          </p:cNvPr>
          <p:cNvSpPr/>
          <p:nvPr/>
        </p:nvSpPr>
        <p:spPr>
          <a:xfrm>
            <a:off x="6609469" y="1690920"/>
            <a:ext cx="2744215" cy="15274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集健康咨询、在线购物、宠物社交和线下服务预约于一体，满足宠物主人多方面需求。 </a:t>
            </a:r>
            <a:endParaRPr sz="1575" b="0" i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New shape">
            <a:extLst>
              <a:ext uri="{FF2B5EF4-FFF2-40B4-BE49-F238E27FC236}">
                <a16:creationId xmlns:a16="http://schemas.microsoft.com/office/drawing/2014/main" id="{B00E9343-2780-1AB9-6851-078308BD365A}"/>
              </a:ext>
            </a:extLst>
          </p:cNvPr>
          <p:cNvSpPr/>
          <p:nvPr/>
        </p:nvSpPr>
        <p:spPr>
          <a:xfrm>
            <a:off x="6641176" y="973431"/>
            <a:ext cx="2532802" cy="585321"/>
          </a:xfrm>
          <a:prstGeom prst="roundRect">
            <a:avLst>
              <a:gd name="adj" fmla="val 20033"/>
            </a:avLst>
          </a:prstGeom>
          <a:solidFill>
            <a:srgbClr val="DEEAFF"/>
          </a:solidFill>
          <a:ln w="6350">
            <a:solidFill>
              <a:srgbClr val="5049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100" b="1" dirty="0">
                <a:solidFill>
                  <a:srgbClr val="2F66E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一站式服务平台</a:t>
            </a:r>
            <a:endParaRPr lang="zh-CN" altLang="en-US" sz="2100" b="1" i="0" dirty="0">
              <a:solidFill>
                <a:srgbClr val="2F66E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New shape">
            <a:extLst>
              <a:ext uri="{FF2B5EF4-FFF2-40B4-BE49-F238E27FC236}">
                <a16:creationId xmlns:a16="http://schemas.microsoft.com/office/drawing/2014/main" id="{92FDA46C-FC90-5ED7-1E80-7B69C03E3C53}"/>
              </a:ext>
            </a:extLst>
          </p:cNvPr>
          <p:cNvSpPr/>
          <p:nvPr/>
        </p:nvSpPr>
        <p:spPr>
          <a:xfrm>
            <a:off x="6680620" y="4317316"/>
            <a:ext cx="2744215" cy="1521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sz="1575" b="0" i="0" dirty="0" err="1">
                <a:solidFill>
                  <a:srgbClr val="000000"/>
                </a:solidFill>
                <a:latin typeface="微软雅黑"/>
              </a:rPr>
              <a:t>宠爱有家提供</a:t>
            </a:r>
            <a:r>
              <a:rPr sz="1575" b="0" i="0" dirty="0" err="1">
                <a:solidFill>
                  <a:schemeClr val="accent2"/>
                </a:solidFill>
                <a:latin typeface="微软雅黑"/>
              </a:rPr>
              <a:t>个性化</a:t>
            </a:r>
            <a:r>
              <a:rPr sz="1575" b="0" i="0" dirty="0" err="1">
                <a:solidFill>
                  <a:srgbClr val="000000"/>
                </a:solidFill>
                <a:latin typeface="微软雅黑"/>
              </a:rPr>
              <a:t>的宠物服务</a:t>
            </a:r>
            <a:r>
              <a:rPr sz="1575" b="0" i="0" dirty="0">
                <a:solidFill>
                  <a:srgbClr val="000000"/>
                </a:solidFill>
                <a:latin typeface="微软雅黑"/>
              </a:rPr>
              <a:t>，</a:t>
            </a:r>
            <a:r>
              <a:rPr lang="zh-CN" altLang="en-US" sz="16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利用大数据和</a:t>
            </a:r>
            <a:r>
              <a:rPr lang="en-US" altLang="zh-CN" sz="16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技术，根据用户行为和偏好，提供个性化的内容和服务推荐。</a:t>
            </a:r>
          </a:p>
        </p:txBody>
      </p:sp>
      <p:sp>
        <p:nvSpPr>
          <p:cNvPr id="17" name="New shape">
            <a:extLst>
              <a:ext uri="{FF2B5EF4-FFF2-40B4-BE49-F238E27FC236}">
                <a16:creationId xmlns:a16="http://schemas.microsoft.com/office/drawing/2014/main" id="{31927251-D198-67FA-1AEC-06C3F07D44F2}"/>
              </a:ext>
            </a:extLst>
          </p:cNvPr>
          <p:cNvSpPr/>
          <p:nvPr/>
        </p:nvSpPr>
        <p:spPr>
          <a:xfrm>
            <a:off x="6661595" y="3460375"/>
            <a:ext cx="2532802" cy="585321"/>
          </a:xfrm>
          <a:prstGeom prst="roundRect">
            <a:avLst>
              <a:gd name="adj" fmla="val 20033"/>
            </a:avLst>
          </a:prstGeom>
          <a:solidFill>
            <a:srgbClr val="DEEAFF"/>
          </a:solidFill>
          <a:ln w="6350">
            <a:solidFill>
              <a:srgbClr val="5049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2100" b="1" i="0" dirty="0" err="1">
                <a:solidFill>
                  <a:schemeClr val="accent2"/>
                </a:solidFill>
                <a:latin typeface="微软雅黑"/>
              </a:rPr>
              <a:t>个性化</a:t>
            </a:r>
            <a:r>
              <a:rPr sz="2100" b="1" i="0" dirty="0" err="1">
                <a:solidFill>
                  <a:srgbClr val="2F66EE"/>
                </a:solidFill>
                <a:latin typeface="微软雅黑"/>
              </a:rPr>
              <a:t>服务体验</a:t>
            </a:r>
            <a:endParaRPr sz="2100" b="1" i="0" dirty="0">
              <a:solidFill>
                <a:srgbClr val="2F66EE"/>
              </a:solidFill>
              <a:latin typeface="微软雅黑"/>
            </a:endParaRPr>
          </a:p>
        </p:txBody>
      </p:sp>
      <p:sp>
        <p:nvSpPr>
          <p:cNvPr id="18" name="New shape">
            <a:extLst>
              <a:ext uri="{FF2B5EF4-FFF2-40B4-BE49-F238E27FC236}">
                <a16:creationId xmlns:a16="http://schemas.microsoft.com/office/drawing/2014/main" id="{4E1576C0-5DA4-4C62-568F-212C322FAAE4}"/>
              </a:ext>
            </a:extLst>
          </p:cNvPr>
          <p:cNvSpPr/>
          <p:nvPr/>
        </p:nvSpPr>
        <p:spPr>
          <a:xfrm>
            <a:off x="9495987" y="3185994"/>
            <a:ext cx="2744216" cy="1515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75" b="0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提供多种功能区</a:t>
            </a:r>
            <a:r>
              <a:rPr sz="1575" b="0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575" b="0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简单的操作页面</a:t>
            </a:r>
            <a:r>
              <a:rPr sz="1575" b="0" i="0" dirty="0">
                <a:solidFill>
                  <a:srgbClr val="000000"/>
                </a:solidFill>
                <a:latin typeface="微软雅黑"/>
              </a:rPr>
              <a:t>，</a:t>
            </a:r>
            <a:r>
              <a:rPr lang="zh-CN" altLang="en-US" sz="16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提升用户的操作体验和满意度。</a:t>
            </a:r>
          </a:p>
          <a:p>
            <a:pPr algn="l">
              <a:lnSpc>
                <a:spcPct val="150000"/>
              </a:lnSpc>
            </a:pPr>
            <a:endParaRPr sz="1575" b="0" i="0" dirty="0">
              <a:solidFill>
                <a:srgbClr val="000000"/>
              </a:solidFill>
              <a:latin typeface="微软雅黑"/>
            </a:endParaRPr>
          </a:p>
        </p:txBody>
      </p:sp>
      <p:sp>
        <p:nvSpPr>
          <p:cNvPr id="19" name="New shape">
            <a:extLst>
              <a:ext uri="{FF2B5EF4-FFF2-40B4-BE49-F238E27FC236}">
                <a16:creationId xmlns:a16="http://schemas.microsoft.com/office/drawing/2014/main" id="{16C1E1E9-E425-728A-ACB4-6514430F29FE}"/>
              </a:ext>
            </a:extLst>
          </p:cNvPr>
          <p:cNvSpPr/>
          <p:nvPr/>
        </p:nvSpPr>
        <p:spPr>
          <a:xfrm>
            <a:off x="9424835" y="2343870"/>
            <a:ext cx="2532802" cy="585321"/>
          </a:xfrm>
          <a:prstGeom prst="roundRect">
            <a:avLst>
              <a:gd name="adj" fmla="val 20033"/>
            </a:avLst>
          </a:prstGeom>
          <a:solidFill>
            <a:srgbClr val="DEEAFF"/>
          </a:solidFill>
          <a:ln w="6350">
            <a:solidFill>
              <a:srgbClr val="5049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100" b="1" i="0" dirty="0">
                <a:solidFill>
                  <a:srgbClr val="2F66E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优质用户体验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290156E5-E442-EF83-F0D3-73FA25A189D9}"/>
              </a:ext>
            </a:extLst>
          </p:cNvPr>
          <p:cNvSpPr/>
          <p:nvPr/>
        </p:nvSpPr>
        <p:spPr>
          <a:xfrm>
            <a:off x="3303239" y="5962958"/>
            <a:ext cx="341832" cy="2147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8715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1CD06CE8-775B-412D-8CA5-38149B4250F2}"/>
              </a:ext>
            </a:extLst>
          </p:cNvPr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>
              <a:extLst>
                <a:ext uri="{FF2B5EF4-FFF2-40B4-BE49-F238E27FC236}">
                  <a16:creationId xmlns:a16="http://schemas.microsoft.com/office/drawing/2014/main" id="{6B433195-F3A3-4CAE-9D18-8C115F4AFBBC}"/>
                </a:ext>
              </a:extLst>
            </p:cNvPr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>
              <a:extLst>
                <a:ext uri="{FF2B5EF4-FFF2-40B4-BE49-F238E27FC236}">
                  <a16:creationId xmlns:a16="http://schemas.microsoft.com/office/drawing/2014/main" id="{4EC9FACA-42BA-40CA-8CD7-36526B08C4C9}"/>
                </a:ext>
              </a:extLst>
            </p:cNvPr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2F384D8-7D4B-43C0-A2C8-97BCCCA3B07A}"/>
              </a:ext>
            </a:extLst>
          </p:cNvPr>
          <p:cNvCxnSpPr>
            <a:cxnSpLocks/>
          </p:cNvCxnSpPr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>
            <a:extLst>
              <a:ext uri="{FF2B5EF4-FFF2-40B4-BE49-F238E27FC236}">
                <a16:creationId xmlns:a16="http://schemas.microsoft.com/office/drawing/2014/main" id="{00EE87AC-3A4F-4A38-9D57-EA0EE0E3FE63}"/>
              </a:ext>
            </a:extLst>
          </p:cNvPr>
          <p:cNvSpPr txBox="1">
            <a:spLocks/>
          </p:cNvSpPr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dirty="0"/>
              <a:t>竞品与风险分析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Oval 10">
            <a:extLst>
              <a:ext uri="{FF2B5EF4-FFF2-40B4-BE49-F238E27FC236}">
                <a16:creationId xmlns:a16="http://schemas.microsoft.com/office/drawing/2014/main" id="{DDCA4DD0-A64F-4DA5-B907-D9935D977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7339" y="3417638"/>
            <a:ext cx="470045" cy="472200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Oval 14">
            <a:extLst>
              <a:ext uri="{FF2B5EF4-FFF2-40B4-BE49-F238E27FC236}">
                <a16:creationId xmlns:a16="http://schemas.microsoft.com/office/drawing/2014/main" id="{5BC42853-D260-4924-8BDA-886E1AC23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8782" y="3159334"/>
            <a:ext cx="470045" cy="472200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Oval 18">
            <a:extLst>
              <a:ext uri="{FF2B5EF4-FFF2-40B4-BE49-F238E27FC236}">
                <a16:creationId xmlns:a16="http://schemas.microsoft.com/office/drawing/2014/main" id="{E576ED07-B2AF-4417-B0F0-8CCFDDEE4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2976" y="3447825"/>
            <a:ext cx="470045" cy="47004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1CA7C1E-9184-0D5D-41F0-39E5FCE72458}"/>
              </a:ext>
            </a:extLst>
          </p:cNvPr>
          <p:cNvSpPr txBox="1"/>
          <p:nvPr/>
        </p:nvSpPr>
        <p:spPr>
          <a:xfrm>
            <a:off x="908385" y="1171313"/>
            <a:ext cx="97478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技术风险</a:t>
            </a:r>
            <a:endParaRPr lang="zh-CN" alt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风险描述</a:t>
            </a:r>
            <a:r>
              <a:rPr lang="zh-CN" alt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的技术实现和维护可能遇到困难，影响用户体验和服务稳定性。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应对策略</a:t>
            </a:r>
            <a:r>
              <a:rPr lang="zh-CN" alt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：组建高素质的技术团队，采用先进的技术架构和开发工具，定期进行系统优化和安全升级；建立应急响应机制，快速处理技术故障和用户反馈。</a:t>
            </a:r>
          </a:p>
          <a:p>
            <a:b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9B10618-4D70-DEEC-F176-248467FDBCC8}"/>
              </a:ext>
            </a:extLst>
          </p:cNvPr>
          <p:cNvSpPr txBox="1"/>
          <p:nvPr/>
        </p:nvSpPr>
        <p:spPr>
          <a:xfrm>
            <a:off x="1052159" y="2674366"/>
            <a:ext cx="946030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资金风险</a:t>
            </a:r>
            <a:endParaRPr lang="zh-CN" alt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风险描述</a:t>
            </a:r>
            <a:r>
              <a:rPr lang="zh-CN" alt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：项目开发和运营需要大量资金，资金不足可能导致项目进展受阻。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应对策略</a:t>
            </a:r>
            <a:r>
              <a:rPr lang="zh-CN" alt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：积极寻求多渠道融资，包括天使投资、风险投资和战略合作伙伴；合理规划资金使用，确保资金流动性和项目的可持续发展。</a:t>
            </a:r>
          </a:p>
          <a:p>
            <a:b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737C0DD-06D4-C968-E8EC-0F192B7BC04A}"/>
              </a:ext>
            </a:extLst>
          </p:cNvPr>
          <p:cNvSpPr txBox="1"/>
          <p:nvPr/>
        </p:nvSpPr>
        <p:spPr>
          <a:xfrm>
            <a:off x="965233" y="4180362"/>
            <a:ext cx="97478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政策法规风险</a:t>
            </a:r>
            <a:endParaRPr lang="zh-CN" alt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风险描述</a:t>
            </a:r>
            <a:r>
              <a:rPr lang="zh-CN" alt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：宠物服务领域涉及的政策法规较多，可能面临法律和合规风险。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应对策略</a:t>
            </a:r>
            <a:r>
              <a:rPr lang="zh-CN" alt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：密切关注相关政策法规，确保业务运营符合法律规定；聘请法律顾问，提供合规咨询和风险评估，减少法律风险。</a:t>
            </a:r>
            <a:endParaRPr lang="en-US" altLang="zh-CN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algn="l">
              <a:buFont typeface="+mj-lt"/>
              <a:buAutoNum type="arabicPeriod"/>
            </a:pPr>
            <a:endParaRPr lang="en-US" altLang="zh-CN" dirty="0">
              <a:solidFill>
                <a:srgbClr val="0D0D0D"/>
              </a:solidFill>
              <a:highlight>
                <a:srgbClr val="FFFF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algn="l">
              <a:buFont typeface="+mj-lt"/>
              <a:buAutoNum type="arabicPeriod"/>
            </a:pPr>
            <a:endParaRPr lang="zh-CN" alt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72314D-85BE-99A7-8F66-3D619714C4D4}"/>
              </a:ext>
            </a:extLst>
          </p:cNvPr>
          <p:cNvSpPr/>
          <p:nvPr/>
        </p:nvSpPr>
        <p:spPr>
          <a:xfrm>
            <a:off x="16239" y="864720"/>
            <a:ext cx="12192001" cy="5931707"/>
          </a:xfrm>
          <a:prstGeom prst="rect">
            <a:avLst/>
          </a:prstGeom>
          <a:solidFill>
            <a:srgbClr val="024282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C3B912B-74A8-5458-2143-4472DED4E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3339" y="5407430"/>
            <a:ext cx="1810573" cy="128179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79837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3">
            <a:extLst>
              <a:ext uri="{FF2B5EF4-FFF2-40B4-BE49-F238E27FC236}">
                <a16:creationId xmlns:a16="http://schemas.microsoft.com/office/drawing/2014/main" id="{B003DBEA-DCA9-4367-9C7D-276E86308A89}"/>
              </a:ext>
            </a:extLst>
          </p:cNvPr>
          <p:cNvSpPr txBox="1">
            <a:spLocks/>
          </p:cNvSpPr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rPr>
              <a:t>0</a:t>
            </a:r>
            <a:r>
              <a:rPr lang="en-US" altLang="zh-CN" sz="19900" dirty="0">
                <a:latin typeface="Arial Black" panose="020B0A04020102020204" pitchFamily="34" charset="0"/>
              </a:rPr>
              <a:t>7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>
            <a:extLst>
              <a:ext uri="{FF2B5EF4-FFF2-40B4-BE49-F238E27FC236}">
                <a16:creationId xmlns:a16="http://schemas.microsoft.com/office/drawing/2014/main" id="{0596444F-0E55-45FB-ADDC-7CB49F17B057}"/>
              </a:ext>
            </a:extLst>
          </p:cNvPr>
          <p:cNvSpPr txBox="1">
            <a:spLocks/>
          </p:cNvSpPr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战略规划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803D4B4-1DA9-48D5-9DA1-22E2C28CE9E8}"/>
              </a:ext>
            </a:extLst>
          </p:cNvPr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>
              <a:extLst>
                <a:ext uri="{FF2B5EF4-FFF2-40B4-BE49-F238E27FC236}">
                  <a16:creationId xmlns:a16="http://schemas.microsoft.com/office/drawing/2014/main" id="{06200922-3CF6-4931-BC88-44D4B19E806C}"/>
                </a:ext>
              </a:extLst>
            </p:cNvPr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>
              <a:extLst>
                <a:ext uri="{FF2B5EF4-FFF2-40B4-BE49-F238E27FC236}">
                  <a16:creationId xmlns:a16="http://schemas.microsoft.com/office/drawing/2014/main" id="{2D15F4C6-AC88-41C4-9097-B10E7060E768}"/>
                </a:ext>
              </a:extLst>
            </p:cNvPr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B02D87A-F649-476F-8BC8-FB6C4075F1AC}"/>
              </a:ext>
            </a:extLst>
          </p:cNvPr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>
              <a:extLst>
                <a:ext uri="{FF2B5EF4-FFF2-40B4-BE49-F238E27FC236}">
                  <a16:creationId xmlns:a16="http://schemas.microsoft.com/office/drawing/2014/main" id="{7FE902F3-E032-4929-AF5F-9660584777C6}"/>
                </a:ext>
              </a:extLst>
            </p:cNvPr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81F4CA57-0574-43E4-8476-CA9509AA4163}"/>
                </a:ext>
              </a:extLst>
            </p:cNvPr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2FBF787-E511-4917-B553-A562828617B2}"/>
              </a:ext>
            </a:extLst>
          </p:cNvPr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589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1048687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688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145743" name="直接连接符 6"/>
          <p:cNvCxnSpPr>
            <a:cxnSpLocks/>
          </p:cNvCxnSpPr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89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/>
                <a:ea typeface="微软雅黑"/>
              </a:rPr>
              <a:t>战略规划</a:t>
            </a:r>
            <a:endParaRPr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45744" name="直接连接符 12"/>
          <p:cNvCxnSpPr>
            <a:cxnSpLocks/>
            <a:stCxn id="1048692" idx="7"/>
            <a:endCxn id="1048693" idx="3"/>
          </p:cNvCxnSpPr>
          <p:nvPr/>
        </p:nvCxnSpPr>
        <p:spPr>
          <a:xfrm flipV="1">
            <a:off x="3503346" y="4757660"/>
            <a:ext cx="1663757" cy="4594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90" name="椭圆 13"/>
          <p:cNvSpPr/>
          <p:nvPr/>
        </p:nvSpPr>
        <p:spPr>
          <a:xfrm>
            <a:off x="8542655" y="4720731"/>
            <a:ext cx="1271621" cy="1271621"/>
          </a:xfrm>
          <a:prstGeom prst="ellipse">
            <a:avLst/>
          </a:prstGeom>
          <a:solidFill>
            <a:srgbClr val="024282"/>
          </a:solidFill>
          <a:ln>
            <a:solidFill>
              <a:srgbClr val="0242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691" name="椭圆 14"/>
          <p:cNvSpPr/>
          <p:nvPr/>
        </p:nvSpPr>
        <p:spPr>
          <a:xfrm>
            <a:off x="8549763" y="1348376"/>
            <a:ext cx="1271621" cy="1271621"/>
          </a:xfrm>
          <a:prstGeom prst="ellipse">
            <a:avLst/>
          </a:prstGeom>
          <a:solidFill>
            <a:srgbClr val="024282"/>
          </a:solidFill>
          <a:ln>
            <a:solidFill>
              <a:srgbClr val="0242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692" name="椭圆 15"/>
          <p:cNvSpPr/>
          <p:nvPr/>
        </p:nvSpPr>
        <p:spPr>
          <a:xfrm>
            <a:off x="2417950" y="4617379"/>
            <a:ext cx="1271621" cy="1271621"/>
          </a:xfrm>
          <a:prstGeom prst="ellipse">
            <a:avLst/>
          </a:prstGeom>
          <a:solidFill>
            <a:srgbClr val="024282"/>
          </a:solidFill>
          <a:ln>
            <a:solidFill>
              <a:srgbClr val="0242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693" name="椭圆 17"/>
          <p:cNvSpPr/>
          <p:nvPr/>
        </p:nvSpPr>
        <p:spPr>
          <a:xfrm>
            <a:off x="4752617" y="2341858"/>
            <a:ext cx="2830288" cy="2830288"/>
          </a:xfrm>
          <a:prstGeom prst="ellipse">
            <a:avLst/>
          </a:prstGeom>
          <a:solidFill>
            <a:srgbClr val="024282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694" name="椭圆 18"/>
          <p:cNvSpPr/>
          <p:nvPr/>
        </p:nvSpPr>
        <p:spPr>
          <a:xfrm>
            <a:off x="5015633" y="2604874"/>
            <a:ext cx="2304256" cy="2304256"/>
          </a:xfrm>
          <a:prstGeom prst="ellipse">
            <a:avLst/>
          </a:prstGeom>
          <a:solidFill>
            <a:srgbClr val="024282"/>
          </a:solidFill>
          <a:ln>
            <a:solidFill>
              <a:srgbClr val="0242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695" name="文本占位符 6"/>
          <p:cNvSpPr txBox="1"/>
          <p:nvPr/>
        </p:nvSpPr>
        <p:spPr>
          <a:xfrm>
            <a:off x="770452" y="1895476"/>
            <a:ext cx="1203466" cy="35110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dirty="0"/>
              <a:t>规划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</a:t>
            </a:r>
          </a:p>
        </p:txBody>
      </p:sp>
      <p:sp>
        <p:nvSpPr>
          <p:cNvPr id="1048696" name="文本占位符 7"/>
          <p:cNvSpPr txBox="1"/>
          <p:nvPr/>
        </p:nvSpPr>
        <p:spPr>
          <a:xfrm>
            <a:off x="10060378" y="2071027"/>
            <a:ext cx="1455727" cy="3511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zh-CN" altLang="en-US" sz="2400" dirty="0">
                <a:latin typeface="微软雅黑"/>
                <a:ea typeface="微软雅黑"/>
              </a:rPr>
              <a:t>重点规划提供高品质的宠物照顾服务</a:t>
            </a:r>
            <a:endParaRPr lang="zh-CN" dirty="0">
              <a:cs typeface="+mn-cs"/>
            </a:endParaRPr>
          </a:p>
        </p:txBody>
      </p:sp>
      <p:sp>
        <p:nvSpPr>
          <p:cNvPr id="1048697" name="文本占位符 8"/>
          <p:cNvSpPr txBox="1"/>
          <p:nvPr/>
        </p:nvSpPr>
        <p:spPr>
          <a:xfrm>
            <a:off x="879466" y="4824618"/>
            <a:ext cx="1203466" cy="35110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dirty="0"/>
              <a:t>规划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</a:t>
            </a:r>
          </a:p>
        </p:txBody>
      </p:sp>
      <p:sp>
        <p:nvSpPr>
          <p:cNvPr id="1048698" name="文本占位符 9"/>
          <p:cNvSpPr txBox="1"/>
          <p:nvPr/>
        </p:nvSpPr>
        <p:spPr>
          <a:xfrm>
            <a:off x="645353" y="2328936"/>
            <a:ext cx="1455727" cy="3511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zh-CN" altLang="en-US" sz="2400" dirty="0">
                <a:latin typeface="微软雅黑"/>
                <a:ea typeface="微软雅黑"/>
              </a:rPr>
              <a:t>打造宠物线上商城小程序</a:t>
            </a:r>
            <a:endParaRPr lang="zh-CN" dirty="0">
              <a:cs typeface="+mn-cs"/>
            </a:endParaRPr>
          </a:p>
        </p:txBody>
      </p:sp>
      <p:sp>
        <p:nvSpPr>
          <p:cNvPr id="1048699" name="文本占位符 10"/>
          <p:cNvSpPr txBox="1"/>
          <p:nvPr/>
        </p:nvSpPr>
        <p:spPr>
          <a:xfrm>
            <a:off x="10129797" y="1633083"/>
            <a:ext cx="1203466" cy="35110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规划三</a:t>
            </a:r>
          </a:p>
        </p:txBody>
      </p:sp>
      <p:sp>
        <p:nvSpPr>
          <p:cNvPr id="1048700" name="文本占位符 12"/>
          <p:cNvSpPr txBox="1"/>
          <p:nvPr/>
        </p:nvSpPr>
        <p:spPr>
          <a:xfrm>
            <a:off x="9998707" y="4120032"/>
            <a:ext cx="1334556" cy="426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dirty="0"/>
              <a:t>规划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四</a:t>
            </a:r>
          </a:p>
        </p:txBody>
      </p:sp>
      <p:sp>
        <p:nvSpPr>
          <p:cNvPr id="1048701" name="文本占位符 13"/>
          <p:cNvSpPr txBox="1"/>
          <p:nvPr/>
        </p:nvSpPr>
        <p:spPr>
          <a:xfrm>
            <a:off x="9998706" y="4480273"/>
            <a:ext cx="1977505" cy="5547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zh-CN" altLang="en-US" sz="2800" dirty="0">
                <a:latin typeface="微软雅黑"/>
                <a:ea typeface="微软雅黑"/>
              </a:rPr>
              <a:t>不断优化服务体验和产品品质以满足市场需求并保持竞争优势</a:t>
            </a:r>
            <a:endParaRPr lang="zh-CN" dirty="0">
              <a:cs typeface="+mn-cs"/>
            </a:endParaRPr>
          </a:p>
        </p:txBody>
      </p:sp>
      <p:pic>
        <p:nvPicPr>
          <p:cNvPr id="2097161" name="图片 2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66410" y="4865839"/>
            <a:ext cx="774700" cy="774700"/>
          </a:xfrm>
          <a:prstGeom prst="rect">
            <a:avLst/>
          </a:prstGeom>
        </p:spPr>
      </p:pic>
      <p:pic>
        <p:nvPicPr>
          <p:cNvPr id="2097162" name="图片 28" descr="图片包含 物体  描述已自动生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791115" y="4969191"/>
            <a:ext cx="774700" cy="774700"/>
          </a:xfrm>
          <a:prstGeom prst="rect">
            <a:avLst/>
          </a:prstGeom>
        </p:spPr>
      </p:pic>
      <p:pic>
        <p:nvPicPr>
          <p:cNvPr id="2097163" name="图片 29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798223" y="1596836"/>
            <a:ext cx="774700" cy="774700"/>
          </a:xfrm>
          <a:prstGeom prst="rect">
            <a:avLst/>
          </a:prstGeom>
        </p:spPr>
      </p:pic>
      <p:grpSp>
        <p:nvGrpSpPr>
          <p:cNvPr id="74" name="组合 30"/>
          <p:cNvGrpSpPr/>
          <p:nvPr/>
        </p:nvGrpSpPr>
        <p:grpSpPr>
          <a:xfrm>
            <a:off x="2332967" y="1554593"/>
            <a:ext cx="1271621" cy="1271621"/>
            <a:chOff x="2332967" y="1554593"/>
            <a:chExt cx="1271621" cy="1271621"/>
          </a:xfrm>
        </p:grpSpPr>
        <p:sp>
          <p:nvSpPr>
            <p:cNvPr id="1048702" name="椭圆 31"/>
            <p:cNvSpPr/>
            <p:nvPr/>
          </p:nvSpPr>
          <p:spPr>
            <a:xfrm>
              <a:off x="2332967" y="1554593"/>
              <a:ext cx="1271621" cy="1271621"/>
            </a:xfrm>
            <a:prstGeom prst="ellipse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097164" name="图片 32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81427" y="1803053"/>
              <a:ext cx="774700" cy="774700"/>
            </a:xfrm>
            <a:prstGeom prst="rect">
              <a:avLst/>
            </a:prstGeom>
          </p:spPr>
        </p:pic>
      </p:grpSp>
      <p:pic>
        <p:nvPicPr>
          <p:cNvPr id="2097165" name="图片 3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2461" y="3261702"/>
            <a:ext cx="990600" cy="990600"/>
          </a:xfrm>
          <a:prstGeom prst="rect">
            <a:avLst/>
          </a:prstGeom>
        </p:spPr>
      </p:pic>
      <p:cxnSp>
        <p:nvCxnSpPr>
          <p:cNvPr id="3145745" name="直接连接符 34"/>
          <p:cNvCxnSpPr>
            <a:cxnSpLocks/>
            <a:stCxn id="1048693" idx="1"/>
            <a:endCxn id="1048702" idx="6"/>
          </p:cNvCxnSpPr>
          <p:nvPr/>
        </p:nvCxnSpPr>
        <p:spPr>
          <a:xfrm flipH="1" flipV="1">
            <a:off x="3604588" y="2190404"/>
            <a:ext cx="1562515" cy="56594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6" name="直接连接符 35"/>
          <p:cNvCxnSpPr>
            <a:cxnSpLocks/>
            <a:stCxn id="1048693" idx="7"/>
            <a:endCxn id="1048691" idx="2"/>
          </p:cNvCxnSpPr>
          <p:nvPr/>
        </p:nvCxnSpPr>
        <p:spPr>
          <a:xfrm flipV="1">
            <a:off x="7168419" y="1984187"/>
            <a:ext cx="1381344" cy="7721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7" name="直接连接符 36"/>
          <p:cNvCxnSpPr>
            <a:cxnSpLocks/>
            <a:stCxn id="1048693" idx="5"/>
          </p:cNvCxnSpPr>
          <p:nvPr/>
        </p:nvCxnSpPr>
        <p:spPr>
          <a:xfrm>
            <a:off x="7168419" y="4757660"/>
            <a:ext cx="1622696" cy="21153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03" name="文本占位符 13"/>
          <p:cNvSpPr txBox="1"/>
          <p:nvPr/>
        </p:nvSpPr>
        <p:spPr>
          <a:xfrm>
            <a:off x="695163" y="5253189"/>
            <a:ext cx="1816402" cy="5357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zh-CN" altLang="en-US" sz="2800" dirty="0">
                <a:latin typeface="微软雅黑"/>
                <a:ea typeface="微软雅黑"/>
              </a:rPr>
              <a:t>进行积极的市场推广和品牌营销</a:t>
            </a:r>
            <a:endParaRPr lang="zh-CN" dirty="0"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gallery dir="l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3">
            <a:extLst>
              <a:ext uri="{FF2B5EF4-FFF2-40B4-BE49-F238E27FC236}">
                <a16:creationId xmlns:a16="http://schemas.microsoft.com/office/drawing/2014/main" id="{B003DBEA-DCA9-4367-9C7D-276E86308A89}"/>
              </a:ext>
            </a:extLst>
          </p:cNvPr>
          <p:cNvSpPr txBox="1">
            <a:spLocks/>
          </p:cNvSpPr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rPr>
              <a:t>08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>
            <a:extLst>
              <a:ext uri="{FF2B5EF4-FFF2-40B4-BE49-F238E27FC236}">
                <a16:creationId xmlns:a16="http://schemas.microsoft.com/office/drawing/2014/main" id="{0596444F-0E55-45FB-ADDC-7CB49F17B057}"/>
              </a:ext>
            </a:extLst>
          </p:cNvPr>
          <p:cNvSpPr txBox="1">
            <a:spLocks/>
          </p:cNvSpPr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6600" dirty="0"/>
              <a:t>进展与需求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803D4B4-1DA9-48D5-9DA1-22E2C28CE9E8}"/>
              </a:ext>
            </a:extLst>
          </p:cNvPr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>
              <a:extLst>
                <a:ext uri="{FF2B5EF4-FFF2-40B4-BE49-F238E27FC236}">
                  <a16:creationId xmlns:a16="http://schemas.microsoft.com/office/drawing/2014/main" id="{06200922-3CF6-4931-BC88-44D4B19E806C}"/>
                </a:ext>
              </a:extLst>
            </p:cNvPr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>
              <a:extLst>
                <a:ext uri="{FF2B5EF4-FFF2-40B4-BE49-F238E27FC236}">
                  <a16:creationId xmlns:a16="http://schemas.microsoft.com/office/drawing/2014/main" id="{2D15F4C6-AC88-41C4-9097-B10E7060E768}"/>
                </a:ext>
              </a:extLst>
            </p:cNvPr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B02D87A-F649-476F-8BC8-FB6C4075F1AC}"/>
              </a:ext>
            </a:extLst>
          </p:cNvPr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>
              <a:extLst>
                <a:ext uri="{FF2B5EF4-FFF2-40B4-BE49-F238E27FC236}">
                  <a16:creationId xmlns:a16="http://schemas.microsoft.com/office/drawing/2014/main" id="{7FE902F3-E032-4929-AF5F-9660584777C6}"/>
                </a:ext>
              </a:extLst>
            </p:cNvPr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81F4CA57-0574-43E4-8476-CA9509AA4163}"/>
                </a:ext>
              </a:extLst>
            </p:cNvPr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2FBF787-E511-4917-B553-A562828617B2}"/>
              </a:ext>
            </a:extLst>
          </p:cNvPr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6937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1048723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724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145750" name="直接连接符 6"/>
          <p:cNvCxnSpPr>
            <a:cxnSpLocks/>
          </p:cNvCxnSpPr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5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/>
                <a:ea typeface="微软雅黑"/>
              </a:rPr>
              <a:t>进展与需求</a:t>
            </a:r>
          </a:p>
        </p:txBody>
      </p:sp>
      <p:sp>
        <p:nvSpPr>
          <p:cNvPr id="1048726" name="文本占位符 27"/>
          <p:cNvSpPr txBox="1"/>
          <p:nvPr/>
        </p:nvSpPr>
        <p:spPr>
          <a:xfrm>
            <a:off x="634590" y="2665852"/>
            <a:ext cx="2378275" cy="2935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srgbClr val="06276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727" name="文本占位符 29"/>
          <p:cNvSpPr txBox="1"/>
          <p:nvPr/>
        </p:nvSpPr>
        <p:spPr>
          <a:xfrm>
            <a:off x="3128677" y="5029665"/>
            <a:ext cx="2378275" cy="2935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06276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728" name="文本占位符 30"/>
          <p:cNvSpPr txBox="1"/>
          <p:nvPr/>
        </p:nvSpPr>
        <p:spPr>
          <a:xfrm>
            <a:off x="6646986" y="1447662"/>
            <a:ext cx="1255880" cy="36423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729" name="文本占位符 32"/>
          <p:cNvSpPr txBox="1"/>
          <p:nvPr/>
        </p:nvSpPr>
        <p:spPr>
          <a:xfrm>
            <a:off x="9465147" y="1447662"/>
            <a:ext cx="1255880" cy="36423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145751" name="直接箭头连接符 19"/>
          <p:cNvCxnSpPr>
            <a:cxnSpLocks/>
          </p:cNvCxnSpPr>
          <p:nvPr/>
        </p:nvCxnSpPr>
        <p:spPr>
          <a:xfrm>
            <a:off x="339524" y="1399474"/>
            <a:ext cx="11113622" cy="0"/>
          </a:xfrm>
          <a:prstGeom prst="straightConnector1">
            <a:avLst/>
          </a:prstGeom>
          <a:ln w="28575">
            <a:solidFill>
              <a:srgbClr val="02428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30" name="椭圆 21"/>
          <p:cNvSpPr/>
          <p:nvPr/>
        </p:nvSpPr>
        <p:spPr>
          <a:xfrm>
            <a:off x="2346140" y="1256053"/>
            <a:ext cx="288032" cy="288032"/>
          </a:xfrm>
          <a:prstGeom prst="ellipse">
            <a:avLst/>
          </a:prstGeom>
          <a:solidFill>
            <a:srgbClr val="024282"/>
          </a:solidFill>
          <a:ln>
            <a:solidFill>
              <a:srgbClr val="0242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048731" name="椭圆 22"/>
          <p:cNvSpPr/>
          <p:nvPr/>
        </p:nvSpPr>
        <p:spPr>
          <a:xfrm>
            <a:off x="8531771" y="1255458"/>
            <a:ext cx="288032" cy="288032"/>
          </a:xfrm>
          <a:prstGeom prst="ellipse">
            <a:avLst/>
          </a:prstGeom>
          <a:solidFill>
            <a:srgbClr val="024282"/>
          </a:solidFill>
          <a:ln>
            <a:solidFill>
              <a:srgbClr val="0242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048732" name="文本框 8"/>
          <p:cNvSpPr txBox="1"/>
          <p:nvPr/>
        </p:nvSpPr>
        <p:spPr>
          <a:xfrm>
            <a:off x="1343641" y="1780373"/>
            <a:ext cx="6097772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zh-CN" altLang="en-US" sz="2400" b="1" dirty="0">
                <a:solidFill>
                  <a:srgbClr val="632523"/>
                </a:solidFill>
                <a:latin typeface="Microsoft YaHei"/>
                <a:ea typeface="Microsoft YaHei"/>
                <a:cs typeface="+mn-lt"/>
              </a:rPr>
              <a:t>进展：稳步进行</a:t>
            </a:r>
            <a:endParaRPr lang="zh-CN" dirty="0"/>
          </a:p>
        </p:txBody>
      </p:sp>
      <p:sp>
        <p:nvSpPr>
          <p:cNvPr id="1048733" name="文本框 11"/>
          <p:cNvSpPr txBox="1"/>
          <p:nvPr/>
        </p:nvSpPr>
        <p:spPr>
          <a:xfrm>
            <a:off x="7669758" y="1806670"/>
            <a:ext cx="6097772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zh-CN" altLang="en-US" sz="2400" b="1" dirty="0">
                <a:solidFill>
                  <a:srgbClr val="632523"/>
                </a:solidFill>
                <a:latin typeface="Microsoft YaHei"/>
                <a:ea typeface="Microsoft YaHei"/>
                <a:cs typeface="+mn-lt"/>
              </a:rPr>
              <a:t>需求：多方需求</a:t>
            </a:r>
            <a:endParaRPr lang="zh-CN" dirty="0"/>
          </a:p>
        </p:txBody>
      </p:sp>
      <p:sp>
        <p:nvSpPr>
          <p:cNvPr id="1048734" name="文本框 32"/>
          <p:cNvSpPr txBox="1"/>
          <p:nvPr/>
        </p:nvSpPr>
        <p:spPr>
          <a:xfrm>
            <a:off x="1343641" y="2479256"/>
            <a:ext cx="2601211" cy="34778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zh-CN" altLang="en-US" sz="2000" b="1" dirty="0">
                <a:solidFill>
                  <a:srgbClr val="000000"/>
                </a:solidFill>
                <a:latin typeface="宋体"/>
                <a:ea typeface="宋体"/>
                <a:cs typeface="+mn-lt"/>
              </a:rPr>
              <a:t>我们的已经完成了初步的市场调研和竞品分析，确定了产品定位和核心功能。我们已经建立了一个小团队，开始了产品的原型设计和开发工作。同时，我们也开始着手筹备宣传推广和用户获取的计划，为产品正式上线做准备。</a:t>
            </a:r>
            <a:endParaRPr lang="zh-CN" dirty="0"/>
          </a:p>
        </p:txBody>
      </p:sp>
      <p:sp>
        <p:nvSpPr>
          <p:cNvPr id="1048735" name="文本框 34"/>
          <p:cNvSpPr txBox="1"/>
          <p:nvPr/>
        </p:nvSpPr>
        <p:spPr>
          <a:xfrm>
            <a:off x="6025019" y="2478901"/>
            <a:ext cx="5285984" cy="255454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zh-CN" altLang="en-US" sz="2000" b="1" dirty="0">
                <a:solidFill>
                  <a:srgbClr val="000000"/>
                </a:solidFill>
                <a:latin typeface="宋体"/>
                <a:ea typeface="宋体"/>
                <a:cs typeface="+mn-lt"/>
              </a:rPr>
              <a:t>技术人才与资金支持：我们正在寻找有经验的技术人才加入团队，负责</a:t>
            </a:r>
            <a:r>
              <a:rPr lang="en-US" altLang="zh-CN" sz="2000" b="1" dirty="0">
                <a:solidFill>
                  <a:srgbClr val="000000"/>
                </a:solidFill>
                <a:latin typeface="宋体"/>
                <a:ea typeface="宋体"/>
                <a:cs typeface="+mn-lt"/>
              </a:rPr>
              <a:t>App</a:t>
            </a:r>
            <a:r>
              <a:rPr lang="zh-CN" altLang="en-US" sz="2000" b="1" dirty="0">
                <a:solidFill>
                  <a:srgbClr val="000000"/>
                </a:solidFill>
                <a:latin typeface="宋体"/>
                <a:ea typeface="宋体"/>
                <a:cs typeface="+mn-lt"/>
              </a:rPr>
              <a:t>的后端开发和数据管理。</a:t>
            </a:r>
            <a:endParaRPr lang="en-US" altLang="zh-CN" sz="2000" b="1" dirty="0">
              <a:solidFill>
                <a:srgbClr val="000000"/>
              </a:solidFill>
              <a:latin typeface="宋体"/>
              <a:ea typeface="宋体"/>
              <a:cs typeface="+mn-lt"/>
            </a:endParaRPr>
          </a:p>
          <a:p>
            <a:r>
              <a:rPr lang="zh-CN" altLang="en-US" sz="2000" b="1" dirty="0">
                <a:solidFill>
                  <a:srgbClr val="000000"/>
                </a:solidFill>
                <a:latin typeface="宋体"/>
                <a:ea typeface="宋体"/>
                <a:cs typeface="+mn-lt"/>
              </a:rPr>
              <a:t>资金支持来继续产品的开发和推广工作。</a:t>
            </a:r>
            <a:endParaRPr lang="en-US" altLang="zh-CN" sz="2000" b="1" dirty="0">
              <a:solidFill>
                <a:srgbClr val="000000"/>
              </a:solidFill>
              <a:latin typeface="宋体"/>
              <a:ea typeface="宋体"/>
              <a:cs typeface="+mn-lt"/>
            </a:endParaRPr>
          </a:p>
          <a:p>
            <a:r>
              <a:rPr lang="zh-CN" altLang="en-US" sz="2000" b="1" dirty="0">
                <a:solidFill>
                  <a:srgbClr val="000000"/>
                </a:solidFill>
                <a:latin typeface="宋体"/>
                <a:ea typeface="宋体"/>
                <a:cs typeface="+mn-lt"/>
              </a:rPr>
              <a:t>用户反馈与合作伙伴：我们需要与宠物主人和宠物爱好者建立联系，收集他们的需求和意见，帮助我们不断优化产品，提升用户体验。</a:t>
            </a:r>
            <a:endParaRPr 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C99CE4C-6A2E-159F-2DCE-F184B7776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4333" y="5099950"/>
            <a:ext cx="2843553" cy="1714361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748FBE1-5362-C80E-B679-934C4D764930}"/>
              </a:ext>
            </a:extLst>
          </p:cNvPr>
          <p:cNvSpPr/>
          <p:nvPr/>
        </p:nvSpPr>
        <p:spPr>
          <a:xfrm>
            <a:off x="-1" y="926294"/>
            <a:ext cx="12192001" cy="5888018"/>
          </a:xfrm>
          <a:prstGeom prst="rect">
            <a:avLst/>
          </a:prstGeom>
          <a:solidFill>
            <a:srgbClr val="024282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48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48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26" grpId="0"/>
      <p:bldP spid="1048734" grpId="0"/>
      <p:bldP spid="104873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9FC9252-9697-4073-AFE0-28B73C8FCF98}"/>
              </a:ext>
            </a:extLst>
          </p:cNvPr>
          <p:cNvSpPr/>
          <p:nvPr/>
        </p:nvSpPr>
        <p:spPr>
          <a:xfrm>
            <a:off x="0" y="0"/>
            <a:ext cx="12289766" cy="6858000"/>
          </a:xfrm>
          <a:prstGeom prst="rect">
            <a:avLst/>
          </a:prstGeom>
          <a:solidFill>
            <a:srgbClr val="024282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占位符 30">
            <a:extLst>
              <a:ext uri="{FF2B5EF4-FFF2-40B4-BE49-F238E27FC236}">
                <a16:creationId xmlns:a16="http://schemas.microsoft.com/office/drawing/2014/main" id="{AEC1EBF5-5340-4DC9-8A70-4D38A7CD9401}"/>
              </a:ext>
            </a:extLst>
          </p:cNvPr>
          <p:cNvSpPr txBox="1">
            <a:spLocks/>
          </p:cNvSpPr>
          <p:nvPr/>
        </p:nvSpPr>
        <p:spPr>
          <a:xfrm>
            <a:off x="3121932" y="603386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占位符 31">
            <a:extLst>
              <a:ext uri="{FF2B5EF4-FFF2-40B4-BE49-F238E27FC236}">
                <a16:creationId xmlns:a16="http://schemas.microsoft.com/office/drawing/2014/main" id="{DF081BEA-0677-4367-99A9-244DBE9DC50B}"/>
              </a:ext>
            </a:extLst>
          </p:cNvPr>
          <p:cNvSpPr txBox="1">
            <a:spLocks/>
          </p:cNvSpPr>
          <p:nvPr/>
        </p:nvSpPr>
        <p:spPr>
          <a:xfrm>
            <a:off x="6460218" y="603386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占位符 24">
            <a:extLst>
              <a:ext uri="{FF2B5EF4-FFF2-40B4-BE49-F238E27FC236}">
                <a16:creationId xmlns:a16="http://schemas.microsoft.com/office/drawing/2014/main" id="{ED6A891B-380D-485C-811B-DDFCE0E349F9}"/>
              </a:ext>
            </a:extLst>
          </p:cNvPr>
          <p:cNvSpPr txBox="1">
            <a:spLocks/>
          </p:cNvSpPr>
          <p:nvPr/>
        </p:nvSpPr>
        <p:spPr>
          <a:xfrm>
            <a:off x="191347" y="2324320"/>
            <a:ext cx="11809308" cy="14156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72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汇报结束  感谢聆听</a:t>
            </a:r>
            <a:r>
              <a:rPr kumimoji="0" lang="zh-CN" altLang="en-US" sz="7200" b="1" i="1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！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00128EB-8591-4195-ACEA-9A766601615E}"/>
              </a:ext>
            </a:extLst>
          </p:cNvPr>
          <p:cNvCxnSpPr/>
          <p:nvPr/>
        </p:nvCxnSpPr>
        <p:spPr>
          <a:xfrm>
            <a:off x="2567608" y="3888438"/>
            <a:ext cx="691276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F37EFCF3-04E6-F3B1-92B2-E223291DB6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1138" y="4828894"/>
            <a:ext cx="2010862" cy="201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16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1044</TotalTime>
  <Words>1012</Words>
  <Application>Microsoft Office PowerPoint</Application>
  <PresentationFormat>宽屏</PresentationFormat>
  <Paragraphs>125</Paragraphs>
  <Slides>21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Söhne</vt:lpstr>
      <vt:lpstr>等线</vt:lpstr>
      <vt:lpstr>宋体</vt:lpstr>
      <vt:lpstr>微软雅黑</vt:lpstr>
      <vt:lpstr>微软雅黑</vt:lpstr>
      <vt:lpstr>Arial</vt:lpstr>
      <vt:lpstr>Arial Black</vt:lpstr>
      <vt:lpstr>Calibri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x x</cp:lastModifiedBy>
  <cp:revision>65</cp:revision>
  <dcterms:created xsi:type="dcterms:W3CDTF">2020-07-27T01:08:13Z</dcterms:created>
  <dcterms:modified xsi:type="dcterms:W3CDTF">2025-04-24T15:07:58Z</dcterms:modified>
</cp:coreProperties>
</file>